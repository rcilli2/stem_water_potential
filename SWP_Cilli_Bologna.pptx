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134806675" r:id="rId2"/>
    <p:sldId id="2134806660" r:id="rId3"/>
    <p:sldId id="2134806676" r:id="rId4"/>
    <p:sldId id="2134806677" r:id="rId5"/>
    <p:sldId id="2134806695" r:id="rId6"/>
    <p:sldId id="2134806696" r:id="rId7"/>
    <p:sldId id="2134806697" r:id="rId8"/>
    <p:sldId id="2134806682" r:id="rId9"/>
    <p:sldId id="2134806688" r:id="rId10"/>
    <p:sldId id="2134806701" r:id="rId11"/>
    <p:sldId id="2134806699" r:id="rId12"/>
    <p:sldId id="2134806678" r:id="rId13"/>
    <p:sldId id="2134806700" r:id="rId14"/>
    <p:sldId id="2134806680" r:id="rId15"/>
    <p:sldId id="2134806679" r:id="rId16"/>
    <p:sldId id="2134806685" r:id="rId17"/>
    <p:sldId id="2134806686" r:id="rId18"/>
    <p:sldId id="2134806689" r:id="rId19"/>
    <p:sldId id="2134806692" r:id="rId20"/>
    <p:sldId id="2134806690" r:id="rId21"/>
    <p:sldId id="2134806691" r:id="rId22"/>
    <p:sldId id="2134806693" r:id="rId23"/>
    <p:sldId id="21348066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260" autoAdjust="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26T08:36:48.0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1,'6'0,"7"0,6 0,6 0,5 0,1 0,2 5,1 2,0 0,4-1,-3-2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26T08:36:53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0,'-5'0,"-3"6,1 7,2 12,1 13,1 6,2 0,0-2,1-2,0-2,1-3,-1-2,0-6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26T08:36:55.5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0,'0'6,"0"7,0 12,0 13,0 11,0 2,0-1,0-4,0-5,0-4,0-2,0-2,0-1,0 0,0-6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26T08:37:05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1,'0'5,"0"8,0 12,0 24,0 31,0 24,0 4,0-4,5-15,3-16,-1-17,-2-11,-1-8,-1-10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26T08:37:21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0,'0'5,"0"8,0 7,0 5,0 4,0 3,0 1,0 0,0-5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26T08:37:23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0,'0'709,"0"-682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7F599-78AD-4228-919F-E4D059580C37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03FBF-05F2-4347-8534-DDD95973946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7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31281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4703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522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34172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4040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45900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7467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02769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6787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4415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87654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89561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42812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23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11391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71611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84691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9300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57207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20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53513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21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49633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35CE0-E525-094D-B9BE-890B63C3D2CE}" type="slidenum">
              <a:rPr lang="x-none" smtClean="0"/>
              <a:t>22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4897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83E93B-339A-BCED-978C-0E39E9EB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FD47B91-E3AE-22DD-CBBD-7B156099A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7F6FAE-2680-7E45-F0D0-0B91D0339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A19A49-B396-67E2-DD71-C3CE5E36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6A247F-1D3E-84E8-F79B-B37789CE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9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336C2-8EE5-1722-58C2-F0F833D2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00D017-EFDE-C22F-7FE0-2DBE5F31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95BD77-6A7B-9938-03EF-E1CB00E4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8003B3-613C-AFB0-EBE8-284236C2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DD0714-0A9B-AB7E-D2CC-BE26EC12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3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92483-F850-7356-5CC7-1E1F708D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F01E51-C780-F963-D1C9-005DD338E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DC04EA-963E-1801-4FF4-25698734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4C6EAC-DC28-E689-CE79-02568EE0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B5B9C2-1AB0-186B-C3BA-2A8C5237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8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2CF94D-3BD3-22A2-3B48-6B73ED89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513F92-805E-1481-0C10-48DF8F6FC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6CA210B-0967-5258-75D8-6544653F5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C1F9C6-ED52-E181-8BAC-B58327CC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7BD091-72F4-FF73-AABA-C6296D2D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AC646E-474A-CAD1-F06D-AEF916A3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6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B92826-18F2-99B0-AF8B-8D905456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E47FDC-EFA8-91D8-D3DD-133B9235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B6A2B2-EAE4-96E9-E16C-D0644E8BD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6EC2550-D8AA-F024-9435-A2BCAE2BB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7EFBFCB-0EB6-E557-356E-8314869FE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920C84-84EB-87DC-EB0E-08B29BDF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B009CCE-D2E9-47EC-34F9-AE36EC48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8ACA0F2-55DE-5F29-D45F-C486B3C8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61A85E-98FD-2076-298A-CD0239C3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F23764-6FDC-BA52-7A0C-A460F0A8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3EBD44-F1BD-0F93-768A-161D08CF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F736EC-A036-17D6-9CD8-500B79FA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9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8C76D75-5539-3D73-B1BC-92520B74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08922F0-4501-5652-C36D-3017BFCB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BF5253-F432-5F1F-5BE3-B01F2BE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BD82FD-99FF-D9D7-24FD-5809B2BD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4E8B1F-9A39-5AEF-8DCD-10580539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4AF5A08-8094-2F6D-44BE-27F32CE8A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4EE20E-D14B-4AC6-87CD-A4AC1A0B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3A99EC6-3D01-1B5A-9E3F-013907CF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2327C8-FDE2-042C-5890-FD867FB5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7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80AC28-8353-A86F-738C-251D09A0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94E4DE8-E755-C02F-2F88-5A1E79588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B5D5F3-DA3A-E64C-6526-74A5FB1BF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66CD63C-F093-46FB-A830-EBCBC7C9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BDFBEA-F631-4B85-E62C-0A01F011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2D3EC9D-0696-52E4-B4CA-40DF1249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9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B6D561-D2EF-8EEA-1385-D2DD2138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7A9F7E-2A7B-4716-3561-E71CB20F0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E7DC90-9710-3383-C5DA-A02BE595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5F1125-7545-72C6-420A-7A466412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48825E-2E40-0DC6-4406-60774D070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D121ABB-685D-1FF1-55A6-B600C02E5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5DB66D9-37D0-1BF6-5740-181B4126F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371E183-E10B-EC67-03D0-64C91C22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A5970E-5A07-F3AA-D9E2-56682A9E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E18A74-B404-E830-2AC5-7B3041D5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2331CE0-21E2-DCD0-1B9D-2E950AB6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0D338D-0AFC-1C38-376D-9A5C72695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E5DF8D-AB6B-225D-F1AE-8CC081BC2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0ABF4-A154-4416-B8B1-E4B6C127D23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377C2D-5331-D3CF-6A27-4766E558E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F3BDCB-B516-749D-7C22-50AFDD705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CFFD5-2EA6-433C-8761-4D8DC63887F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roberto.cilli@uniba.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5.xml"/><Relationship Id="rId3" Type="http://schemas.openxmlformats.org/officeDocument/2006/relationships/image" Target="../media/image20.png"/><Relationship Id="rId7" Type="http://schemas.openxmlformats.org/officeDocument/2006/relationships/customXml" Target="../ink/ink2.xml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140.png"/><Relationship Id="rId4" Type="http://schemas.openxmlformats.org/officeDocument/2006/relationships/image" Target="../media/image21.png"/><Relationship Id="rId9" Type="http://schemas.openxmlformats.org/officeDocument/2006/relationships/customXml" Target="../ink/ink3.xml"/><Relationship Id="rId14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 rot="10800000">
            <a:off x="0" y="674498"/>
            <a:ext cx="12191999" cy="2485242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Abadi" panose="020B0604020104020204" pitchFamily="34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E7157E01-950B-40EA-809C-867A5E4A71F4}"/>
              </a:ext>
            </a:extLst>
          </p:cNvPr>
          <p:cNvSpPr txBox="1"/>
          <p:nvPr/>
        </p:nvSpPr>
        <p:spPr>
          <a:xfrm>
            <a:off x="0" y="3288204"/>
            <a:ext cx="12192000" cy="3432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it-IT" sz="2800" u="sng" dirty="0">
                <a:latin typeface="Abadi" panose="020B0604020104020204" pitchFamily="34" charset="0"/>
              </a:rPr>
              <a:t>R. Cilli</a:t>
            </a:r>
            <a:r>
              <a:rPr lang="it-IT" sz="2800" u="sng" baseline="30000" dirty="0">
                <a:latin typeface="Abadi" panose="020B0604020104020204" pitchFamily="34" charset="0"/>
              </a:rPr>
              <a:t>1</a:t>
            </a:r>
            <a:r>
              <a:rPr lang="it-IT" sz="2800" dirty="0">
                <a:latin typeface="Abadi" panose="020B0604020104020204" pitchFamily="34" charset="0"/>
              </a:rPr>
              <a:t>, E. Pantaleo</a:t>
            </a:r>
            <a:r>
              <a:rPr lang="it-IT" sz="2800" baseline="30000" dirty="0">
                <a:latin typeface="Abadi" panose="020B0604020104020204" pitchFamily="34" charset="0"/>
              </a:rPr>
              <a:t>1,2</a:t>
            </a:r>
            <a:r>
              <a:rPr lang="it-IT" sz="2800" dirty="0">
                <a:latin typeface="Abadi" panose="020B0604020104020204" pitchFamily="34" charset="0"/>
              </a:rPr>
              <a:t>, G.A. Vivaldi</a:t>
            </a:r>
            <a:r>
              <a:rPr lang="it-IT" sz="2800" baseline="30000" dirty="0">
                <a:latin typeface="Abadi" panose="020B0604020104020204" pitchFamily="34" charset="0"/>
              </a:rPr>
              <a:t>4</a:t>
            </a:r>
            <a:r>
              <a:rPr lang="it-IT" sz="2800" dirty="0">
                <a:latin typeface="Abadi" panose="020B0604020104020204" pitchFamily="34" charset="0"/>
              </a:rPr>
              <a:t>, J. Ikken</a:t>
            </a:r>
            <a:r>
              <a:rPr lang="it-IT" sz="2800" baseline="30000" dirty="0">
                <a:latin typeface="Abadi" panose="020B0604020104020204" pitchFamily="34" charset="0"/>
              </a:rPr>
              <a:t>4,5</a:t>
            </a:r>
            <a:r>
              <a:rPr lang="it-IT" sz="2800" dirty="0">
                <a:latin typeface="Abadi" panose="020B0604020104020204" pitchFamily="34" charset="0"/>
              </a:rPr>
              <a:t>, V. Giannico</a:t>
            </a:r>
            <a:r>
              <a:rPr lang="it-IT" sz="2800" baseline="30000" dirty="0">
                <a:latin typeface="Abadi" panose="020B0604020104020204" pitchFamily="34" charset="0"/>
              </a:rPr>
              <a:t>4</a:t>
            </a:r>
            <a:r>
              <a:rPr lang="it-IT" sz="2800" dirty="0">
                <a:latin typeface="Abadi" panose="020B0604020104020204" pitchFamily="34" charset="0"/>
              </a:rPr>
              <a:t>, F. Abbatantuono</a:t>
            </a:r>
            <a:r>
              <a:rPr lang="it-IT" sz="2800" baseline="30000" dirty="0">
                <a:latin typeface="Abadi" panose="020B0604020104020204" pitchFamily="34" charset="0"/>
              </a:rPr>
              <a:t>4</a:t>
            </a:r>
            <a:r>
              <a:rPr lang="it-IT" sz="2800" dirty="0">
                <a:latin typeface="Abadi" panose="020B0604020104020204" pitchFamily="34" charset="0"/>
              </a:rPr>
              <a:t>, A. Tallou</a:t>
            </a:r>
            <a:r>
              <a:rPr lang="it-IT" sz="2800" baseline="30000" dirty="0">
                <a:latin typeface="Abadi" panose="020B0604020104020204" pitchFamily="34" charset="0"/>
              </a:rPr>
              <a:t>4</a:t>
            </a:r>
            <a:r>
              <a:rPr lang="it-IT" sz="2800" dirty="0">
                <a:latin typeface="Abadi" panose="020B0604020104020204" pitchFamily="34" charset="0"/>
              </a:rPr>
              <a:t>, A. Monaco</a:t>
            </a:r>
            <a:r>
              <a:rPr lang="it-IT" sz="2800" baseline="30000" dirty="0">
                <a:latin typeface="Abadi" panose="020B0604020104020204" pitchFamily="34" charset="0"/>
              </a:rPr>
              <a:t>1,2</a:t>
            </a:r>
            <a:r>
              <a:rPr lang="it-IT" sz="2800" dirty="0">
                <a:latin typeface="Abadi" panose="020B0604020104020204" pitchFamily="34" charset="0"/>
              </a:rPr>
              <a:t>, N. Amoroso</a:t>
            </a:r>
            <a:r>
              <a:rPr lang="it-IT" sz="2800" baseline="30000" dirty="0">
                <a:latin typeface="Abadi" panose="020B0604020104020204" pitchFamily="34" charset="0"/>
              </a:rPr>
              <a:t>2,3</a:t>
            </a:r>
            <a:r>
              <a:rPr lang="it-IT" sz="2800" dirty="0">
                <a:latin typeface="Abadi" panose="020B0604020104020204" pitchFamily="34" charset="0"/>
              </a:rPr>
              <a:t>, R. Bellotti</a:t>
            </a:r>
            <a:r>
              <a:rPr lang="it-IT" sz="2800" baseline="30000" dirty="0">
                <a:latin typeface="Abadi" panose="020B0604020104020204" pitchFamily="34" charset="0"/>
              </a:rPr>
              <a:t>1,2</a:t>
            </a:r>
            <a:r>
              <a:rPr lang="it-IT" sz="2800" dirty="0">
                <a:latin typeface="Abadi" panose="020B0604020104020204" pitchFamily="34" charset="0"/>
              </a:rPr>
              <a:t> </a:t>
            </a:r>
          </a:p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it-IT" sz="1600" i="1" baseline="30000" dirty="0"/>
              <a:t>1 </a:t>
            </a:r>
            <a:r>
              <a:rPr lang="it-IT" sz="1600" i="1" dirty="0"/>
              <a:t>Dipartimento </a:t>
            </a:r>
            <a:r>
              <a:rPr lang="it-IT" sz="1600" i="1" dirty="0" err="1"/>
              <a:t>Interateneo</a:t>
            </a:r>
            <a:r>
              <a:rPr lang="it-IT" sz="1600" i="1" dirty="0"/>
              <a:t> di Fisica M. Merlin, Università degli Studi di Bari </a:t>
            </a:r>
          </a:p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it-IT" sz="1600" i="1" baseline="30000" dirty="0"/>
              <a:t>2</a:t>
            </a:r>
            <a:r>
              <a:rPr lang="it-IT" sz="1600" i="1" dirty="0"/>
              <a:t> Istituto Nazionale di Fisica Nucleare (INFN), Sede di Bari </a:t>
            </a:r>
          </a:p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it-IT" sz="1600" i="1" baseline="30000" dirty="0"/>
              <a:t>3</a:t>
            </a:r>
            <a:r>
              <a:rPr lang="it-IT" sz="1600" i="1" dirty="0"/>
              <a:t> Dipartimento di Farmacia - Scienze del Farmaco, Università degli Studi di Bari</a:t>
            </a:r>
          </a:p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it-IT" sz="1600" i="1" dirty="0"/>
              <a:t> </a:t>
            </a:r>
            <a:r>
              <a:rPr lang="it-IT" sz="1600" i="1" baseline="30000" dirty="0"/>
              <a:t>4</a:t>
            </a:r>
            <a:r>
              <a:rPr lang="it-IT" sz="1600" i="1" dirty="0"/>
              <a:t> Dipartimento di Scienze del Suolo, della Pianta e degli Alimenti, Università degli Studi di Bari</a:t>
            </a:r>
          </a:p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it-IT" sz="1600" i="1" dirty="0"/>
              <a:t> </a:t>
            </a:r>
            <a:r>
              <a:rPr lang="it-IT" sz="1600" i="1" baseline="30000" dirty="0"/>
              <a:t>5</a:t>
            </a:r>
            <a:r>
              <a:rPr lang="it-IT" sz="1600" i="1" dirty="0"/>
              <a:t> </a:t>
            </a:r>
            <a:r>
              <a:rPr lang="en-US" sz="1600" i="1" dirty="0"/>
              <a:t>The Rural Engineering Department, Agronomic and Veterinary Institute Hassan II, Rabat, Morocco</a:t>
            </a:r>
            <a:r>
              <a:rPr lang="en-US" sz="1600" b="1" i="1" dirty="0"/>
              <a:t>;</a:t>
            </a:r>
          </a:p>
          <a:p>
            <a:pPr marL="106680" marR="10795" indent="-6350" algn="ctr">
              <a:lnSpc>
                <a:spcPct val="107000"/>
              </a:lnSpc>
              <a:spcAft>
                <a:spcPts val="1110"/>
              </a:spcAft>
            </a:pPr>
            <a:r>
              <a:rPr lang="en-US" sz="1600" b="1" i="1" dirty="0"/>
              <a:t>Workshop </a:t>
            </a:r>
            <a:r>
              <a:rPr lang="en-US" sz="1600" b="1" i="1" dirty="0" err="1"/>
              <a:t>Tematico</a:t>
            </a:r>
            <a:r>
              <a:rPr lang="en-US" sz="1600" b="1" i="1" dirty="0"/>
              <a:t> ENEA-AIT, Bologna, 6-7 </a:t>
            </a:r>
            <a:r>
              <a:rPr lang="en-US" sz="1600" b="1" i="1" dirty="0" err="1"/>
              <a:t>Giugno</a:t>
            </a:r>
            <a:r>
              <a:rPr lang="en-US" sz="1600" b="1" i="1" dirty="0"/>
              <a:t> 2024</a:t>
            </a:r>
            <a:endParaRPr lang="it-IT" sz="16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83E21-8E24-F65E-8BAB-D4CFA71F0F27}"/>
              </a:ext>
            </a:extLst>
          </p:cNvPr>
          <p:cNvSpPr txBox="1"/>
          <p:nvPr/>
        </p:nvSpPr>
        <p:spPr>
          <a:xfrm>
            <a:off x="94368" y="855290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Prediction of Stem Water Potential in vineyards using PLANETSCOPE imagery and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geospatial data analysis</a:t>
            </a:r>
            <a:endParaRPr lang="it-IT" sz="32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55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2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chemeClr val="bg1"/>
                </a:solidFill>
                <a:latin typeface="Abadi" panose="020B0604020104020204" pitchFamily="34" charset="0"/>
              </a:rPr>
              <a:t>Outline</a:t>
            </a:r>
            <a:endParaRPr lang="it-IT" sz="32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137671-D32A-3A91-F2EE-C25209CFCC41}"/>
              </a:ext>
            </a:extLst>
          </p:cNvPr>
          <p:cNvSpPr txBox="1">
            <a:spLocks/>
          </p:cNvSpPr>
          <p:nvPr/>
        </p:nvSpPr>
        <p:spPr>
          <a:xfrm>
            <a:off x="298021" y="997825"/>
            <a:ext cx="11044204" cy="53585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badi" panose="020B0604020104020204" pitchFamily="34" charset="0"/>
              </a:rPr>
              <a:t>Area of Study and Scope of the Analysis</a:t>
            </a:r>
          </a:p>
          <a:p>
            <a:r>
              <a:rPr lang="it-IT" sz="2400" dirty="0">
                <a:latin typeface="Abadi" panose="020B0604020104020204" pitchFamily="34" charset="0"/>
              </a:rPr>
              <a:t>Datasets</a:t>
            </a:r>
          </a:p>
          <a:p>
            <a:r>
              <a:rPr lang="it-IT" sz="2400" dirty="0">
                <a:latin typeface="Abadi" panose="020B0604020104020204" pitchFamily="34" charset="0"/>
              </a:rPr>
              <a:t>Workflow</a:t>
            </a:r>
          </a:p>
          <a:p>
            <a:r>
              <a:rPr lang="en-US" sz="2400" dirty="0">
                <a:latin typeface="Abadi" panose="020B0604020104020204" pitchFamily="34" charset="0"/>
              </a:rPr>
              <a:t>Results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Comparison of different feature sets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Independent tests (years 2022 and 2023)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Feature Importance and Explanation using SHAP algorithms</a:t>
            </a:r>
          </a:p>
          <a:p>
            <a:r>
              <a:rPr lang="en-US" sz="2400" dirty="0">
                <a:latin typeface="Abadi" panose="020B0604020104020204" pitchFamily="34" charset="0"/>
              </a:rPr>
              <a:t>Conclusions</a:t>
            </a:r>
            <a:endParaRPr lang="en-US" sz="2000" dirty="0">
              <a:latin typeface="Abadi" panose="020B0604020104020204" pitchFamily="34" charset="0"/>
            </a:endParaRPr>
          </a:p>
          <a:p>
            <a:pPr lvl="1"/>
            <a:endParaRPr lang="it-IT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70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Area of Study and Scope of the Analysis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ADC9DC1-B874-8F4F-32DD-4328C1922FB8}"/>
              </a:ext>
            </a:extLst>
          </p:cNvPr>
          <p:cNvSpPr txBox="1"/>
          <p:nvPr/>
        </p:nvSpPr>
        <p:spPr>
          <a:xfrm>
            <a:off x="439837" y="1007051"/>
            <a:ext cx="68406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Prediction of water status of </a:t>
            </a:r>
            <a:r>
              <a:rPr lang="en-US" sz="1800" b="1" dirty="0" err="1">
                <a:latin typeface="Abadi" panose="020B0604020104020204" pitchFamily="34" charset="0"/>
              </a:rPr>
              <a:t>apulian</a:t>
            </a:r>
            <a:r>
              <a:rPr lang="en-US" sz="1800" b="1" dirty="0">
                <a:latin typeface="Abadi" panose="020B0604020104020204" pitchFamily="34" charset="0"/>
              </a:rPr>
              <a:t> grapes using spectral properties from </a:t>
            </a:r>
            <a:r>
              <a:rPr lang="en-US" sz="1800" b="1" dirty="0" err="1">
                <a:latin typeface="Abadi" panose="020B0604020104020204" pitchFamily="34" charset="0"/>
              </a:rPr>
              <a:t>PlanetScope</a:t>
            </a:r>
            <a:r>
              <a:rPr lang="en-US" b="1" dirty="0">
                <a:latin typeface="Abadi" panose="020B0604020104020204" pitchFamily="34" charset="0"/>
              </a:rPr>
              <a:t>.</a:t>
            </a:r>
          </a:p>
          <a:p>
            <a:endParaRPr lang="en-US" sz="1800" b="1" dirty="0">
              <a:latin typeface="Abadi" panose="020B0604020104020204" pitchFamily="34" charset="0"/>
            </a:endParaRPr>
          </a:p>
          <a:p>
            <a:r>
              <a:rPr lang="en-US" sz="1800" b="1" dirty="0">
                <a:latin typeface="Abadi" panose="020B0604020104020204" pitchFamily="34" charset="0"/>
              </a:rPr>
              <a:t>We are interested in models capable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badi" panose="020B0604020104020204" pitchFamily="34" charset="0"/>
              </a:rPr>
              <a:t>Generalizing to other vineyards </a:t>
            </a:r>
            <a:r>
              <a:rPr lang="en-US" dirty="0">
                <a:latin typeface="Abadi" panose="020B0604020104020204" pitchFamily="34" charset="0"/>
              </a:rPr>
              <a:t>of the Apulian landscape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Generalizing to other grape varieties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badi" panose="020B0604020104020204" pitchFamily="34" charset="0"/>
              </a:rPr>
              <a:t>Generalizing to next cropping ye</a:t>
            </a:r>
            <a:r>
              <a:rPr lang="en-US" dirty="0">
                <a:latin typeface="Abadi" panose="020B0604020104020204" pitchFamily="34" charset="0"/>
              </a:rPr>
              <a:t>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badi" panose="020B0604020104020204" pitchFamily="34" charset="0"/>
            </a:endParaRPr>
          </a:p>
          <a:p>
            <a:r>
              <a:rPr lang="en-US" sz="1800" b="1" dirty="0">
                <a:latin typeface="Abadi" panose="020B0604020104020204" pitchFamily="34" charset="0"/>
              </a:rPr>
              <a:t>Water status is measured using a pressure chamber, where a stem segment is placed inside to determine the pressure to force water out of the xylem. </a:t>
            </a:r>
            <a:endParaRPr lang="en-US" sz="1800" dirty="0">
              <a:latin typeface="Abadi" panose="020B0604020104020204" pitchFamily="34" charset="0"/>
            </a:endParaRPr>
          </a:p>
        </p:txBody>
      </p:sp>
      <p:pic>
        <p:nvPicPr>
          <p:cNvPr id="5" name="Immagine 4" descr="Immagine che contiene mappa, testo&#10;&#10;Descrizione generata automaticamente">
            <a:extLst>
              <a:ext uri="{FF2B5EF4-FFF2-40B4-BE49-F238E27FC236}">
                <a16:creationId xmlns:a16="http://schemas.microsoft.com/office/drawing/2014/main" id="{065ADF5D-EE39-5F0A-CA96-0CC9506F1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129" y="3880787"/>
            <a:ext cx="3414532" cy="2411222"/>
          </a:xfrm>
          <a:prstGeom prst="rect">
            <a:avLst/>
          </a:prstGeom>
        </p:spPr>
      </p:pic>
      <p:pic>
        <p:nvPicPr>
          <p:cNvPr id="7" name="Immagine 6" descr="Immagine che contiene Rettangolo, schermata, linea, quadrato&#10;&#10;Descrizione generata automaticamente">
            <a:extLst>
              <a:ext uri="{FF2B5EF4-FFF2-40B4-BE49-F238E27FC236}">
                <a16:creationId xmlns:a16="http://schemas.microsoft.com/office/drawing/2014/main" id="{00BDBB14-C768-6690-9F86-4171C6E8D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129" y="839490"/>
            <a:ext cx="3414532" cy="252503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2B554A-325D-7AD8-FC1C-E4090F7D8ABD}"/>
              </a:ext>
            </a:extLst>
          </p:cNvPr>
          <p:cNvSpPr txBox="1"/>
          <p:nvPr/>
        </p:nvSpPr>
        <p:spPr>
          <a:xfrm>
            <a:off x="8346794" y="3429000"/>
            <a:ext cx="2879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badi" panose="020B0604020104020204" pitchFamily="34" charset="0"/>
              </a:rPr>
              <a:t>Andria, Italy</a:t>
            </a:r>
            <a:endParaRPr lang="en-US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298CE94-0172-9108-3699-81140E155C6B}"/>
              </a:ext>
            </a:extLst>
          </p:cNvPr>
          <p:cNvSpPr txBox="1"/>
          <p:nvPr/>
        </p:nvSpPr>
        <p:spPr>
          <a:xfrm>
            <a:off x="8464469" y="6374464"/>
            <a:ext cx="2879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badi" panose="020B0604020104020204" pitchFamily="34" charset="0"/>
              </a:rPr>
              <a:t>Brindisi, Italy</a:t>
            </a:r>
            <a:endParaRPr lang="en-US" b="1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667540F-B052-5F31-B193-7E5C7C4E8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635" y="4092550"/>
            <a:ext cx="3858415" cy="2459741"/>
          </a:xfrm>
          <a:prstGeom prst="rect">
            <a:avLst/>
          </a:prstGeom>
        </p:spPr>
      </p:pic>
      <p:pic>
        <p:nvPicPr>
          <p:cNvPr id="14" name="Immagine 23" descr="Immagine che contiene dispositivo, interni, parete, calibro&#10;&#10;Descrizione generata automaticamente">
            <a:extLst>
              <a:ext uri="{FF2B5EF4-FFF2-40B4-BE49-F238E27FC236}">
                <a16:creationId xmlns:a16="http://schemas.microsoft.com/office/drawing/2014/main" id="{4DC2AE78-EA61-E088-7E6C-887D203F3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4" y="4158677"/>
            <a:ext cx="2255712" cy="2327485"/>
          </a:xfrm>
          <a:prstGeom prst="rect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3715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4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Datasets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FA564BE-15D6-033B-031B-34493250A173}"/>
              </a:ext>
            </a:extLst>
          </p:cNvPr>
          <p:cNvSpPr txBox="1"/>
          <p:nvPr/>
        </p:nvSpPr>
        <p:spPr>
          <a:xfrm>
            <a:off x="269111" y="1203380"/>
            <a:ext cx="703451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Abadi" panose="020B0604020104020204" pitchFamily="34" charset="0"/>
              </a:rPr>
              <a:t>Four</a:t>
            </a:r>
            <a:r>
              <a:rPr lang="en-US" sz="2400" b="1" dirty="0">
                <a:latin typeface="Abadi" panose="020B0604020104020204" pitchFamily="34" charset="0"/>
              </a:rPr>
              <a:t> data acquisition campaigns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Andria </a:t>
            </a:r>
            <a:r>
              <a:rPr lang="it-IT" dirty="0" err="1">
                <a:latin typeface="Abadi" panose="020B0604020104020204" pitchFamily="34" charset="0"/>
              </a:rPr>
              <a:t>year</a:t>
            </a:r>
            <a:r>
              <a:rPr lang="it-IT" dirty="0">
                <a:latin typeface="Abadi" panose="020B0604020104020204" pitchFamily="34" charset="0"/>
              </a:rPr>
              <a:t> 2022 and </a:t>
            </a:r>
            <a:r>
              <a:rPr lang="it-IT" dirty="0" err="1">
                <a:latin typeface="Abadi" panose="020B0604020104020204" pitchFamily="34" charset="0"/>
              </a:rPr>
              <a:t>year</a:t>
            </a:r>
            <a:r>
              <a:rPr lang="it-IT" dirty="0">
                <a:latin typeface="Abadi" panose="020B0604020104020204" pitchFamily="34" charset="0"/>
              </a:rPr>
              <a:t> 2023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Brindisi </a:t>
            </a:r>
            <a:r>
              <a:rPr lang="it-IT" dirty="0" err="1">
                <a:latin typeface="Abadi" panose="020B0604020104020204" pitchFamily="34" charset="0"/>
              </a:rPr>
              <a:t>year</a:t>
            </a:r>
            <a:r>
              <a:rPr lang="it-IT" dirty="0">
                <a:latin typeface="Abadi" panose="020B0604020104020204" pitchFamily="34" charset="0"/>
              </a:rPr>
              <a:t> 2022 and 2023</a:t>
            </a:r>
          </a:p>
          <a:p>
            <a:endParaRPr lang="it-IT" sz="2400" b="1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«Huge» dataset: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750 total ground measurements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45 sample points</a:t>
            </a:r>
            <a:endParaRPr lang="en-US" b="1" dirty="0">
              <a:latin typeface="Abadi" panose="020B0604020104020204" pitchFamily="34" charset="0"/>
            </a:endParaRPr>
          </a:p>
          <a:p>
            <a:pPr lvl="1"/>
            <a:endParaRPr lang="it-IT" sz="2400" b="1" dirty="0">
              <a:latin typeface="Abadi" panose="020B0604020104020204" pitchFamily="34" charset="0"/>
            </a:endParaRPr>
          </a:p>
          <a:p>
            <a:r>
              <a:rPr lang="it-IT" sz="2400" b="1" dirty="0">
                <a:latin typeface="Abadi" panose="020B0604020104020204" pitchFamily="34" charset="0"/>
              </a:rPr>
              <a:t>24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badi" panose="020B0604020104020204" pitchFamily="34" charset="0"/>
              </a:rPr>
              <a:t>8 </a:t>
            </a:r>
            <a:r>
              <a:rPr lang="it-IT" sz="2000" dirty="0" err="1">
                <a:latin typeface="Abadi" panose="020B0604020104020204" pitchFamily="34" charset="0"/>
              </a:rPr>
              <a:t>surface</a:t>
            </a:r>
            <a:r>
              <a:rPr lang="it-IT" sz="2000" dirty="0">
                <a:latin typeface="Abadi" panose="020B0604020104020204" pitchFamily="34" charset="0"/>
              </a:rPr>
              <a:t> </a:t>
            </a:r>
            <a:r>
              <a:rPr lang="it-IT" sz="2000" dirty="0" err="1">
                <a:latin typeface="Abadi" panose="020B0604020104020204" pitchFamily="34" charset="0"/>
              </a:rPr>
              <a:t>reflectances</a:t>
            </a:r>
            <a:r>
              <a:rPr lang="it-IT" sz="2000" dirty="0">
                <a:latin typeface="Abadi" panose="020B0604020104020204" pitchFamily="34" charset="0"/>
              </a:rPr>
              <a:t> from </a:t>
            </a:r>
            <a:r>
              <a:rPr lang="it-IT" sz="2000" dirty="0" err="1">
                <a:latin typeface="Abadi" panose="020B0604020104020204" pitchFamily="34" charset="0"/>
              </a:rPr>
              <a:t>PlanetScope</a:t>
            </a:r>
            <a:endParaRPr lang="it-IT" sz="2000" dirty="0">
              <a:latin typeface="Abadi" panose="020B06040201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badi" panose="020B0604020104020204" pitchFamily="34" charset="0"/>
              </a:rPr>
              <a:t>10 composite indexes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badi" panose="020B0604020104020204" pitchFamily="34" charset="0"/>
              </a:rPr>
              <a:t>6 </a:t>
            </a:r>
            <a:r>
              <a:rPr lang="it-IT" sz="2000" dirty="0" err="1">
                <a:latin typeface="Abadi" panose="020B0604020104020204" pitchFamily="34" charset="0"/>
              </a:rPr>
              <a:t>weather</a:t>
            </a:r>
            <a:r>
              <a:rPr lang="it-IT" sz="2000" dirty="0">
                <a:latin typeface="Abadi" panose="020B0604020104020204" pitchFamily="34" charset="0"/>
              </a:rPr>
              <a:t> </a:t>
            </a:r>
            <a:r>
              <a:rPr lang="it-IT" sz="2000" dirty="0" err="1">
                <a:latin typeface="Abadi" panose="020B0604020104020204" pitchFamily="34" charset="0"/>
              </a:rPr>
              <a:t>variables</a:t>
            </a:r>
            <a:r>
              <a:rPr lang="it-IT" sz="2000" dirty="0">
                <a:latin typeface="Abadi" panose="020B0604020104020204" pitchFamily="34" charset="0"/>
              </a:rPr>
              <a:t> from AgERA5</a:t>
            </a:r>
          </a:p>
          <a:p>
            <a:pPr lvl="1"/>
            <a:endParaRPr lang="it-IT" sz="2000" dirty="0">
              <a:latin typeface="Abadi" panose="020B0604020104020204" pitchFamily="34" charset="0"/>
            </a:endParaRPr>
          </a:p>
          <a:p>
            <a:r>
              <a:rPr lang="it-IT" sz="2400" b="1" dirty="0">
                <a:latin typeface="Abadi" panose="020B0604020104020204" pitchFamily="34" charset="0"/>
              </a:rPr>
              <a:t>Target </a:t>
            </a:r>
            <a:r>
              <a:rPr lang="it-IT" sz="2400" b="1" dirty="0" err="1">
                <a:latin typeface="Abadi" panose="020B0604020104020204" pitchFamily="34" charset="0"/>
              </a:rPr>
              <a:t>Variable</a:t>
            </a:r>
            <a:r>
              <a:rPr lang="it-IT" sz="2400" b="1" dirty="0">
                <a:latin typeface="Abadi" panose="020B0604020104020204" pitchFamily="34" charset="0"/>
              </a:rPr>
              <a:t> 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Stem Water Potential (SWP) from ground measurements at solar midday  </a:t>
            </a:r>
          </a:p>
        </p:txBody>
      </p:sp>
      <p:pic>
        <p:nvPicPr>
          <p:cNvPr id="10" name="Immagine 9" descr="Immagine che contiene mappa, testo&#10;&#10;Descrizione generata automaticamente">
            <a:extLst>
              <a:ext uri="{FF2B5EF4-FFF2-40B4-BE49-F238E27FC236}">
                <a16:creationId xmlns:a16="http://schemas.microsoft.com/office/drawing/2014/main" id="{4596F90C-77A0-BFBE-BC23-9F9DF56BA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129" y="3880787"/>
            <a:ext cx="3414532" cy="2411222"/>
          </a:xfrm>
          <a:prstGeom prst="rect">
            <a:avLst/>
          </a:prstGeom>
        </p:spPr>
      </p:pic>
      <p:pic>
        <p:nvPicPr>
          <p:cNvPr id="11" name="Immagine 10" descr="Immagine che contiene Rettangolo, schermata, linea, quadrato&#10;&#10;Descrizione generata automaticamente">
            <a:extLst>
              <a:ext uri="{FF2B5EF4-FFF2-40B4-BE49-F238E27FC236}">
                <a16:creationId xmlns:a16="http://schemas.microsoft.com/office/drawing/2014/main" id="{5D1FCB7F-1A0E-564F-9513-A7996EFB5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129" y="839490"/>
            <a:ext cx="3414532" cy="2525032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6C0A214-0F04-1B32-D4B8-FCAC82BAA12B}"/>
              </a:ext>
            </a:extLst>
          </p:cNvPr>
          <p:cNvSpPr txBox="1"/>
          <p:nvPr/>
        </p:nvSpPr>
        <p:spPr>
          <a:xfrm>
            <a:off x="8346794" y="3429000"/>
            <a:ext cx="2879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badi" panose="020B0604020104020204" pitchFamily="34" charset="0"/>
              </a:rPr>
              <a:t>Andria, Italy</a:t>
            </a:r>
            <a:endParaRPr lang="en-US" b="1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0DB2DCC-D177-D85C-D104-6ABB1D4260CE}"/>
              </a:ext>
            </a:extLst>
          </p:cNvPr>
          <p:cNvSpPr txBox="1"/>
          <p:nvPr/>
        </p:nvSpPr>
        <p:spPr>
          <a:xfrm>
            <a:off x="8464469" y="6374464"/>
            <a:ext cx="2879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badi" panose="020B0604020104020204" pitchFamily="34" charset="0"/>
              </a:rPr>
              <a:t>Brindisi, Italy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840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ttangolo con angoli arrotondati 60">
            <a:extLst>
              <a:ext uri="{FF2B5EF4-FFF2-40B4-BE49-F238E27FC236}">
                <a16:creationId xmlns:a16="http://schemas.microsoft.com/office/drawing/2014/main" id="{693A1EB3-20C4-4F25-E339-83E03C449AF2}"/>
              </a:ext>
            </a:extLst>
          </p:cNvPr>
          <p:cNvSpPr/>
          <p:nvPr/>
        </p:nvSpPr>
        <p:spPr>
          <a:xfrm>
            <a:off x="10245198" y="2770167"/>
            <a:ext cx="1628065" cy="32627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4228C12A-C8E1-F8FC-AED3-509D67901531}"/>
              </a:ext>
            </a:extLst>
          </p:cNvPr>
          <p:cNvSpPr/>
          <p:nvPr/>
        </p:nvSpPr>
        <p:spPr>
          <a:xfrm>
            <a:off x="8471531" y="2757384"/>
            <a:ext cx="1628065" cy="326277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5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Workflow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AEA5EFA-E75D-178D-B422-107B3A8D78D9}"/>
              </a:ext>
            </a:extLst>
          </p:cNvPr>
          <p:cNvSpPr/>
          <p:nvPr/>
        </p:nvSpPr>
        <p:spPr>
          <a:xfrm>
            <a:off x="163975" y="3094421"/>
            <a:ext cx="5295419" cy="28694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ma 14">
            <a:extLst>
              <a:ext uri="{FF2B5EF4-FFF2-40B4-BE49-F238E27FC236}">
                <a16:creationId xmlns:a16="http://schemas.microsoft.com/office/drawing/2014/main" id="{692F22CA-9027-7BA4-2DCC-8A41177E6F55}"/>
              </a:ext>
            </a:extLst>
          </p:cNvPr>
          <p:cNvSpPr/>
          <p:nvPr/>
        </p:nvSpPr>
        <p:spPr>
          <a:xfrm>
            <a:off x="1552939" y="1895375"/>
            <a:ext cx="2673752" cy="72528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of SWP and Spectra</a:t>
            </a:r>
          </a:p>
        </p:txBody>
      </p:sp>
      <p:sp>
        <p:nvSpPr>
          <p:cNvPr id="16" name="Parallelogramma 15">
            <a:extLst>
              <a:ext uri="{FF2B5EF4-FFF2-40B4-BE49-F238E27FC236}">
                <a16:creationId xmlns:a16="http://schemas.microsoft.com/office/drawing/2014/main" id="{4E6E9585-7AF7-4447-DBF1-1F561699F7E1}"/>
              </a:ext>
            </a:extLst>
          </p:cNvPr>
          <p:cNvSpPr/>
          <p:nvPr/>
        </p:nvSpPr>
        <p:spPr>
          <a:xfrm>
            <a:off x="408975" y="3304593"/>
            <a:ext cx="1857738" cy="60873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Training Set</a:t>
            </a:r>
            <a:endParaRPr lang="en-US" sz="1600" dirty="0"/>
          </a:p>
        </p:txBody>
      </p:sp>
      <p:sp>
        <p:nvSpPr>
          <p:cNvPr id="18" name="Parallelogramma 17">
            <a:extLst>
              <a:ext uri="{FF2B5EF4-FFF2-40B4-BE49-F238E27FC236}">
                <a16:creationId xmlns:a16="http://schemas.microsoft.com/office/drawing/2014/main" id="{51831B21-61C1-274D-C0B1-CE3DFAD43804}"/>
              </a:ext>
            </a:extLst>
          </p:cNvPr>
          <p:cNvSpPr/>
          <p:nvPr/>
        </p:nvSpPr>
        <p:spPr>
          <a:xfrm>
            <a:off x="3264061" y="3304592"/>
            <a:ext cx="1857738" cy="608739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Validation Set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0A0C353-1177-15B9-C934-C2991E23D2E9}"/>
              </a:ext>
            </a:extLst>
          </p:cNvPr>
          <p:cNvSpPr/>
          <p:nvPr/>
        </p:nvSpPr>
        <p:spPr>
          <a:xfrm>
            <a:off x="483246" y="4205439"/>
            <a:ext cx="1709195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Random Forest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C8179638-431C-208E-5202-9F97882AC217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 flipH="1">
            <a:off x="1337844" y="2620660"/>
            <a:ext cx="1551971" cy="6839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922E8AE1-91CB-1DCD-F0F2-EBE8432FBFDE}"/>
              </a:ext>
            </a:extLst>
          </p:cNvPr>
          <p:cNvCxnSpPr>
            <a:cxnSpLocks/>
            <a:stCxn id="15" idx="4"/>
            <a:endCxn id="18" idx="1"/>
          </p:cNvCxnSpPr>
          <p:nvPr/>
        </p:nvCxnSpPr>
        <p:spPr>
          <a:xfrm>
            <a:off x="2889815" y="2620660"/>
            <a:ext cx="1379207" cy="6839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F21477D-4978-831C-925D-464AB842E3FF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1337844" y="3913331"/>
            <a:ext cx="0" cy="2921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1216A8F-2447-C642-2F00-9A2734E70520}"/>
              </a:ext>
            </a:extLst>
          </p:cNvPr>
          <p:cNvSpPr txBox="1"/>
          <p:nvPr/>
        </p:nvSpPr>
        <p:spPr>
          <a:xfrm>
            <a:off x="163975" y="6020158"/>
            <a:ext cx="6094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 dirty="0">
                <a:latin typeface="Abadi" panose="020B0604020104020204" pitchFamily="34" charset="0"/>
              </a:rPr>
              <a:t>2 </a:t>
            </a:r>
            <a:r>
              <a:rPr lang="it-IT" sz="1400" i="1" dirty="0" err="1">
                <a:latin typeface="Abadi" panose="020B0604020104020204" pitchFamily="34" charset="0"/>
              </a:rPr>
              <a:t>hold</a:t>
            </a:r>
            <a:r>
              <a:rPr lang="it-IT" sz="1400" i="1" dirty="0">
                <a:latin typeface="Abadi" panose="020B0604020104020204" pitchFamily="34" charset="0"/>
              </a:rPr>
              <a:t>-out CV rounds (50-50 rule)</a:t>
            </a:r>
            <a:endParaRPr lang="en-US" sz="1400" i="1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BBBF5F8F-AA8B-9DE2-C792-701DCFBCB9B2}"/>
              </a:ext>
            </a:extLst>
          </p:cNvPr>
          <p:cNvSpPr/>
          <p:nvPr/>
        </p:nvSpPr>
        <p:spPr>
          <a:xfrm>
            <a:off x="3338330" y="5068894"/>
            <a:ext cx="1709195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SHAP algorithm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D68FA7A2-3438-FEF3-7F7B-2862F6874080}"/>
              </a:ext>
            </a:extLst>
          </p:cNvPr>
          <p:cNvSpPr/>
          <p:nvPr/>
        </p:nvSpPr>
        <p:spPr>
          <a:xfrm>
            <a:off x="3338331" y="4196099"/>
            <a:ext cx="1709195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Regression Model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42A98557-CFED-E24F-EB22-4A3E97050444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2192441" y="4500468"/>
            <a:ext cx="1145890" cy="93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CF1322CA-A978-D52E-9716-26ADFE1074EE}"/>
              </a:ext>
            </a:extLst>
          </p:cNvPr>
          <p:cNvCxnSpPr>
            <a:cxnSpLocks/>
            <a:stCxn id="27" idx="0"/>
            <a:endCxn id="33" idx="1"/>
          </p:cNvCxnSpPr>
          <p:nvPr/>
        </p:nvCxnSpPr>
        <p:spPr>
          <a:xfrm flipV="1">
            <a:off x="4192929" y="3608960"/>
            <a:ext cx="1628065" cy="5871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F7E5824B-B732-3395-DCFF-437599BE8A4E}"/>
              </a:ext>
            </a:extLst>
          </p:cNvPr>
          <p:cNvCxnSpPr>
            <a:cxnSpLocks/>
            <a:stCxn id="18" idx="2"/>
          </p:cNvCxnSpPr>
          <p:nvPr/>
        </p:nvCxnSpPr>
        <p:spPr>
          <a:xfrm flipV="1">
            <a:off x="5045707" y="3608961"/>
            <a:ext cx="825559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32">
            <a:extLst>
              <a:ext uri="{FF2B5EF4-FFF2-40B4-BE49-F238E27FC236}">
                <a16:creationId xmlns:a16="http://schemas.microsoft.com/office/drawing/2014/main" id="{53123719-5BF7-7A91-1F32-7D38D3ECC1E6}"/>
              </a:ext>
            </a:extLst>
          </p:cNvPr>
          <p:cNvSpPr/>
          <p:nvPr/>
        </p:nvSpPr>
        <p:spPr>
          <a:xfrm>
            <a:off x="5820994" y="3304591"/>
            <a:ext cx="1759468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Evaluation 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34045711-DA5E-5D91-BFD3-48B2EF0763D3}"/>
              </a:ext>
            </a:extLst>
          </p:cNvPr>
          <p:cNvSpPr/>
          <p:nvPr/>
        </p:nvSpPr>
        <p:spPr>
          <a:xfrm>
            <a:off x="5793132" y="4192112"/>
            <a:ext cx="1869311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Average Regression Model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BD3AB976-493B-9CBF-7CD1-5B93D629CC3E}"/>
              </a:ext>
            </a:extLst>
          </p:cNvPr>
          <p:cNvCxnSpPr>
            <a:cxnSpLocks/>
            <a:stCxn id="27" idx="3"/>
            <a:endCxn id="34" idx="1"/>
          </p:cNvCxnSpPr>
          <p:nvPr/>
        </p:nvCxnSpPr>
        <p:spPr>
          <a:xfrm flipV="1">
            <a:off x="5047526" y="4496481"/>
            <a:ext cx="745606" cy="3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813A581F-C64D-4442-9081-FE0103CDE535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4192928" y="4804837"/>
            <a:ext cx="1" cy="2640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B1F3EDD3-6503-C94F-7A79-15A5EDBB310B}"/>
              </a:ext>
            </a:extLst>
          </p:cNvPr>
          <p:cNvSpPr/>
          <p:nvPr/>
        </p:nvSpPr>
        <p:spPr>
          <a:xfrm>
            <a:off x="5820994" y="5068058"/>
            <a:ext cx="1759468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Model </a:t>
            </a:r>
            <a:r>
              <a:rPr lang="it-IT" sz="1600" dirty="0" err="1"/>
              <a:t>Explanation</a:t>
            </a:r>
            <a:endParaRPr lang="en-US" sz="1600" dirty="0"/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8FDDB3F2-D108-334B-9DC9-C5A7ACC1708E}"/>
              </a:ext>
            </a:extLst>
          </p:cNvPr>
          <p:cNvCxnSpPr>
            <a:cxnSpLocks/>
            <a:stCxn id="26" idx="3"/>
            <a:endCxn id="39" idx="1"/>
          </p:cNvCxnSpPr>
          <p:nvPr/>
        </p:nvCxnSpPr>
        <p:spPr>
          <a:xfrm flipV="1">
            <a:off x="5047525" y="5372427"/>
            <a:ext cx="773469" cy="8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36EB4AD-8F5C-1F89-1AB9-D599A215D1DC}"/>
              </a:ext>
            </a:extLst>
          </p:cNvPr>
          <p:cNvSpPr txBox="1"/>
          <p:nvPr/>
        </p:nvSpPr>
        <p:spPr>
          <a:xfrm>
            <a:off x="5793132" y="908177"/>
            <a:ext cx="612879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latin typeface="Abadi" panose="020B0604020104020204" pitchFamily="34" charset="0"/>
              </a:rPr>
              <a:t>Training and Validation sets </a:t>
            </a:r>
            <a:r>
              <a:rPr lang="en-US" sz="2100" b="1" u="sng" dirty="0">
                <a:solidFill>
                  <a:srgbClr val="FF0000"/>
                </a:solidFill>
                <a:latin typeface="Abadi" panose="020B0604020104020204" pitchFamily="34" charset="0"/>
              </a:rPr>
              <a:t>were not </a:t>
            </a:r>
            <a:r>
              <a:rPr lang="en-US" sz="2100" b="1" dirty="0">
                <a:latin typeface="Abadi" panose="020B0604020104020204" pitchFamily="34" charset="0"/>
              </a:rPr>
              <a:t>defined by random shuffling to ensure generalization capabilities. At each round: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Abadi" panose="020B0604020104020204" pitchFamily="34" charset="0"/>
              </a:rPr>
              <a:t>2 sets used to train a RF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Abadi" panose="020B0604020104020204" pitchFamily="34" charset="0"/>
              </a:rPr>
              <a:t>2 set used for validation</a:t>
            </a:r>
            <a:endParaRPr lang="en-US" sz="2100" dirty="0">
              <a:latin typeface="Abadi" panose="020B0604020104020204" pitchFamily="34" charset="0"/>
            </a:endParaRPr>
          </a:p>
        </p:txBody>
      </p:sp>
      <p:pic>
        <p:nvPicPr>
          <p:cNvPr id="43" name="Immagine 42" descr="Immagine che contiene Rettangolo, schermata, linea, quadrato&#10;&#10;Descrizione generata automaticamente">
            <a:extLst>
              <a:ext uri="{FF2B5EF4-FFF2-40B4-BE49-F238E27FC236}">
                <a16:creationId xmlns:a16="http://schemas.microsoft.com/office/drawing/2014/main" id="{867492DB-8C10-086F-ED05-FFBE614E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533" y="3441147"/>
            <a:ext cx="1132393" cy="837400"/>
          </a:xfrm>
          <a:prstGeom prst="rect">
            <a:avLst/>
          </a:prstGeom>
        </p:spPr>
      </p:pic>
      <p:pic>
        <p:nvPicPr>
          <p:cNvPr id="45" name="Immagine 44" descr="Immagine che contiene Rettangolo, schermata, linea, quadrato&#10;&#10;Descrizione generata automaticamente">
            <a:extLst>
              <a:ext uri="{FF2B5EF4-FFF2-40B4-BE49-F238E27FC236}">
                <a16:creationId xmlns:a16="http://schemas.microsoft.com/office/drawing/2014/main" id="{DF0A53B1-1091-CA1A-B051-71FBF3E57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476" y="3441147"/>
            <a:ext cx="1132393" cy="837400"/>
          </a:xfrm>
          <a:prstGeom prst="rect">
            <a:avLst/>
          </a:prstGeom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95224536-1A30-7B47-BF90-58E10C089073}"/>
              </a:ext>
            </a:extLst>
          </p:cNvPr>
          <p:cNvSpPr txBox="1"/>
          <p:nvPr/>
        </p:nvSpPr>
        <p:spPr>
          <a:xfrm>
            <a:off x="8602325" y="2867454"/>
            <a:ext cx="1312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badi" panose="020B0604020104020204" pitchFamily="34" charset="0"/>
              </a:rPr>
              <a:t>Andria </a:t>
            </a:r>
          </a:p>
          <a:p>
            <a:pPr algn="ctr"/>
            <a:r>
              <a:rPr lang="en-US" sz="1600" b="1" dirty="0">
                <a:latin typeface="Abadi" panose="020B0604020104020204" pitchFamily="34" charset="0"/>
              </a:rPr>
              <a:t>2022</a:t>
            </a:r>
            <a:endParaRPr lang="en-US" sz="1600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67179913-BF5E-5938-F8EF-0BF4C192A7B3}"/>
              </a:ext>
            </a:extLst>
          </p:cNvPr>
          <p:cNvSpPr txBox="1"/>
          <p:nvPr/>
        </p:nvSpPr>
        <p:spPr>
          <a:xfrm>
            <a:off x="10374268" y="2876454"/>
            <a:ext cx="1312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badi" panose="020B0604020104020204" pitchFamily="34" charset="0"/>
              </a:rPr>
              <a:t>Andria </a:t>
            </a:r>
          </a:p>
          <a:p>
            <a:pPr algn="ctr"/>
            <a:r>
              <a:rPr lang="en-US" sz="1600" b="1" dirty="0">
                <a:latin typeface="Abadi" panose="020B0604020104020204" pitchFamily="34" charset="0"/>
              </a:rPr>
              <a:t>2023</a:t>
            </a:r>
            <a:endParaRPr lang="en-US" sz="1600" dirty="0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6BA3D4EC-6E44-AE40-7C6E-A7DD866AC67C}"/>
              </a:ext>
            </a:extLst>
          </p:cNvPr>
          <p:cNvSpPr txBox="1"/>
          <p:nvPr/>
        </p:nvSpPr>
        <p:spPr>
          <a:xfrm>
            <a:off x="8632725" y="4458657"/>
            <a:ext cx="1312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badi" panose="020B0604020104020204" pitchFamily="34" charset="0"/>
              </a:rPr>
              <a:t>Brindisi </a:t>
            </a:r>
          </a:p>
          <a:p>
            <a:pPr algn="ctr"/>
            <a:r>
              <a:rPr lang="en-US" sz="1600" b="1" dirty="0">
                <a:latin typeface="Abadi" panose="020B0604020104020204" pitchFamily="34" charset="0"/>
              </a:rPr>
              <a:t>2022</a:t>
            </a:r>
            <a:endParaRPr lang="en-US" sz="1600" dirty="0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E5E6291-D650-47E9-0594-3E0DABC5307C}"/>
              </a:ext>
            </a:extLst>
          </p:cNvPr>
          <p:cNvSpPr txBox="1"/>
          <p:nvPr/>
        </p:nvSpPr>
        <p:spPr>
          <a:xfrm>
            <a:off x="10404668" y="4467657"/>
            <a:ext cx="1312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badi" panose="020B0604020104020204" pitchFamily="34" charset="0"/>
              </a:rPr>
              <a:t>Brindisi </a:t>
            </a:r>
          </a:p>
          <a:p>
            <a:pPr algn="ctr"/>
            <a:r>
              <a:rPr lang="en-US" sz="1600" b="1" dirty="0">
                <a:latin typeface="Abadi" panose="020B0604020104020204" pitchFamily="34" charset="0"/>
              </a:rPr>
              <a:t>2023</a:t>
            </a:r>
            <a:endParaRPr lang="en-US" sz="1600" dirty="0"/>
          </a:p>
        </p:txBody>
      </p:sp>
      <p:pic>
        <p:nvPicPr>
          <p:cNvPr id="57" name="Immagine 56" descr="Immagine che contiene mappa, testo&#10;&#10;Descrizione generata automaticamente">
            <a:extLst>
              <a:ext uri="{FF2B5EF4-FFF2-40B4-BE49-F238E27FC236}">
                <a16:creationId xmlns:a16="http://schemas.microsoft.com/office/drawing/2014/main" id="{7AAE5163-D22C-34CD-BC35-EF5D29AB0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33" y="5031199"/>
            <a:ext cx="1121993" cy="837400"/>
          </a:xfrm>
          <a:prstGeom prst="rect">
            <a:avLst/>
          </a:prstGeom>
        </p:spPr>
      </p:pic>
      <p:pic>
        <p:nvPicPr>
          <p:cNvPr id="59" name="Immagine 58" descr="Immagine che contiene mappa, testo&#10;&#10;Descrizione generata automaticamente">
            <a:extLst>
              <a:ext uri="{FF2B5EF4-FFF2-40B4-BE49-F238E27FC236}">
                <a16:creationId xmlns:a16="http://schemas.microsoft.com/office/drawing/2014/main" id="{20E17348-D1AF-43E0-DBDB-1B0A16B6E4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35" y="5031199"/>
            <a:ext cx="1121993" cy="837400"/>
          </a:xfrm>
          <a:prstGeom prst="rect">
            <a:avLst/>
          </a:prstGeom>
        </p:spPr>
      </p:pic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16B64383-EA98-457B-9488-9A697D3E51A7}"/>
              </a:ext>
            </a:extLst>
          </p:cNvPr>
          <p:cNvSpPr txBox="1"/>
          <p:nvPr/>
        </p:nvSpPr>
        <p:spPr>
          <a:xfrm>
            <a:off x="8325929" y="6024602"/>
            <a:ext cx="818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Set A</a:t>
            </a:r>
            <a:endParaRPr lang="en-US" dirty="0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81088165-18E7-6A93-0411-1CF705CD5756}"/>
              </a:ext>
            </a:extLst>
          </p:cNvPr>
          <p:cNvSpPr txBox="1"/>
          <p:nvPr/>
        </p:nvSpPr>
        <p:spPr>
          <a:xfrm>
            <a:off x="10099596" y="6037385"/>
            <a:ext cx="818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Set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89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6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Comparisons of different set of features (test)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E88DE42-222F-53FF-3F8D-F39627A18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76881"/>
              </p:ext>
            </p:extLst>
          </p:nvPr>
        </p:nvGraphicFramePr>
        <p:xfrm>
          <a:off x="1388963" y="1352148"/>
          <a:ext cx="963014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5035">
                  <a:extLst>
                    <a:ext uri="{9D8B030D-6E8A-4147-A177-3AD203B41FA5}">
                      <a16:colId xmlns:a16="http://schemas.microsoft.com/office/drawing/2014/main" val="3877111421"/>
                    </a:ext>
                  </a:extLst>
                </a:gridCol>
                <a:gridCol w="1614173">
                  <a:extLst>
                    <a:ext uri="{9D8B030D-6E8A-4147-A177-3AD203B41FA5}">
                      <a16:colId xmlns:a16="http://schemas.microsoft.com/office/drawing/2014/main" val="1814681770"/>
                    </a:ext>
                  </a:extLst>
                </a:gridCol>
                <a:gridCol w="2334826">
                  <a:extLst>
                    <a:ext uri="{9D8B030D-6E8A-4147-A177-3AD203B41FA5}">
                      <a16:colId xmlns:a16="http://schemas.microsoft.com/office/drawing/2014/main" val="2468559304"/>
                    </a:ext>
                  </a:extLst>
                </a:gridCol>
                <a:gridCol w="376107">
                  <a:extLst>
                    <a:ext uri="{9D8B030D-6E8A-4147-A177-3AD203B41FA5}">
                      <a16:colId xmlns:a16="http://schemas.microsoft.com/office/drawing/2014/main" val="1284763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Features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RVAR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Pearson’s 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1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 err="1"/>
                        <a:t>Spectra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0.397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25.4%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Indexes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0.415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7.0%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89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AgERA5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0.403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26.3%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737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 err="1"/>
                        <a:t>Spectra</a:t>
                      </a:r>
                      <a:r>
                        <a:rPr lang="it-IT" sz="2400" dirty="0"/>
                        <a:t> + Indexes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0.377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30.6%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102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sng" dirty="0" err="1"/>
                        <a:t>Spectra</a:t>
                      </a:r>
                      <a:r>
                        <a:rPr lang="it-IT" sz="2400" b="1" u="sng" dirty="0"/>
                        <a:t> + AgERA5</a:t>
                      </a:r>
                      <a:endParaRPr lang="en-US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u="sng" dirty="0"/>
                        <a:t>0.364</a:t>
                      </a:r>
                      <a:endParaRPr lang="en-US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u="sng" dirty="0"/>
                        <a:t>45.3%</a:t>
                      </a:r>
                      <a:endParaRPr lang="en-US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88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/>
                        <a:t>Indexes + AgERA5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0.378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37.7%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95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 err="1"/>
                        <a:t>Spectra</a:t>
                      </a:r>
                      <a:r>
                        <a:rPr lang="it-IT" sz="2400" dirty="0"/>
                        <a:t> + Indexes + AgERA5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0.367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42.2%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398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75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139BDD9B-05C9-1424-D3EB-F5068469B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5" b="1842"/>
          <a:stretch/>
        </p:blipFill>
        <p:spPr>
          <a:xfrm>
            <a:off x="71343" y="3706678"/>
            <a:ext cx="4600827" cy="303565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7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2022 and 2023 independent tests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AB633B0-B367-C5F2-8CF4-B92CB979A2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" b="1074"/>
          <a:stretch/>
        </p:blipFill>
        <p:spPr>
          <a:xfrm>
            <a:off x="115747" y="787193"/>
            <a:ext cx="4556423" cy="298115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FE0D7B-5116-1B02-27D1-F19E3DAAF6EB}"/>
              </a:ext>
            </a:extLst>
          </p:cNvPr>
          <p:cNvSpPr txBox="1"/>
          <p:nvPr/>
        </p:nvSpPr>
        <p:spPr>
          <a:xfrm>
            <a:off x="618241" y="883742"/>
            <a:ext cx="1069692" cy="104644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050" b="1" dirty="0">
                <a:latin typeface="Abadi" panose="020B0604020104020204" pitchFamily="34" charset="0"/>
              </a:rPr>
              <a:t>Year 2022</a:t>
            </a:r>
          </a:p>
          <a:p>
            <a:r>
              <a:rPr lang="en-US" sz="1050" b="1" dirty="0">
                <a:latin typeface="Abadi" panose="020B0604020104020204" pitchFamily="34" charset="0"/>
              </a:rPr>
              <a:t>RVAR = 0.43</a:t>
            </a:r>
          </a:p>
          <a:p>
            <a:r>
              <a:rPr lang="en-US" sz="1050" b="1" dirty="0">
                <a:latin typeface="Abadi" panose="020B0604020104020204" pitchFamily="34" charset="0"/>
              </a:rPr>
              <a:t>BIAS = 0.21</a:t>
            </a:r>
          </a:p>
          <a:p>
            <a:r>
              <a:rPr lang="en-US" sz="1050" b="1" dirty="0">
                <a:latin typeface="Abadi" panose="020B0604020104020204" pitchFamily="34" charset="0"/>
              </a:rPr>
              <a:t>CORR = 41.0%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 err="1">
                <a:solidFill>
                  <a:srgbClr val="C00000"/>
                </a:solidFill>
                <a:latin typeface="Abadi" panose="020B0604020104020204" pitchFamily="34" charset="0"/>
              </a:rPr>
              <a:t>Tormaresca</a:t>
            </a:r>
            <a:endParaRPr lang="en-US" sz="900" b="1" dirty="0">
              <a:solidFill>
                <a:srgbClr val="C00000"/>
              </a:solidFill>
              <a:latin typeface="Abadi" panose="020B06040201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Zeuli</a:t>
            </a:r>
            <a:endParaRPr lang="en-US" sz="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40D0CAC-9DAE-5DF4-2663-6D7496495D1F}"/>
              </a:ext>
            </a:extLst>
          </p:cNvPr>
          <p:cNvSpPr txBox="1"/>
          <p:nvPr/>
        </p:nvSpPr>
        <p:spPr>
          <a:xfrm>
            <a:off x="605536" y="3864895"/>
            <a:ext cx="1082397" cy="1015663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050" b="1" dirty="0">
                <a:latin typeface="Abadi" panose="020B0604020104020204" pitchFamily="34" charset="0"/>
              </a:rPr>
              <a:t>Year 2023</a:t>
            </a:r>
          </a:p>
          <a:p>
            <a:r>
              <a:rPr lang="en-US" sz="1050" b="1" dirty="0">
                <a:latin typeface="Abadi" panose="020B0604020104020204" pitchFamily="34" charset="0"/>
              </a:rPr>
              <a:t>RVAR = 0.46</a:t>
            </a:r>
          </a:p>
          <a:p>
            <a:r>
              <a:rPr lang="en-US" sz="1050" b="1" dirty="0">
                <a:latin typeface="Abadi" panose="020B0604020104020204" pitchFamily="34" charset="0"/>
              </a:rPr>
              <a:t>BIAS = -0.3</a:t>
            </a:r>
          </a:p>
          <a:p>
            <a:r>
              <a:rPr lang="en-US" sz="1050" b="1" dirty="0">
                <a:latin typeface="Abadi" panose="020B0604020104020204" pitchFamily="34" charset="0"/>
              </a:rPr>
              <a:t>CORR = 47.0%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 err="1">
                <a:solidFill>
                  <a:srgbClr val="C00000"/>
                </a:solidFill>
                <a:latin typeface="Abadi" panose="020B0604020104020204" pitchFamily="34" charset="0"/>
              </a:rPr>
              <a:t>Tormaresca</a:t>
            </a:r>
            <a:endParaRPr lang="en-US" sz="900" b="1" dirty="0">
              <a:solidFill>
                <a:srgbClr val="C00000"/>
              </a:solidFill>
              <a:latin typeface="Abadi" panose="020B06040201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Zeuli</a:t>
            </a:r>
            <a:endParaRPr lang="en-US" sz="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9169897-5539-D303-C985-52DC3A5D8E2F}"/>
              </a:ext>
            </a:extLst>
          </p:cNvPr>
          <p:cNvSpPr txBox="1"/>
          <p:nvPr/>
        </p:nvSpPr>
        <p:spPr>
          <a:xfrm>
            <a:off x="7903295" y="993409"/>
            <a:ext cx="3045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Average Feature Importance</a:t>
            </a:r>
            <a:endParaRPr lang="en-US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946BD01-7A4B-CFFE-3998-B7036E3BE598}"/>
              </a:ext>
            </a:extLst>
          </p:cNvPr>
          <p:cNvSpPr txBox="1"/>
          <p:nvPr/>
        </p:nvSpPr>
        <p:spPr>
          <a:xfrm>
            <a:off x="6235547" y="6075144"/>
            <a:ext cx="416978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*Limitation of this study:</a:t>
            </a:r>
          </a:p>
          <a:p>
            <a:pPr algn="r"/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Model tested on several grape variety </a:t>
            </a:r>
            <a:endParaRPr lang="en-US" sz="1800" b="1" dirty="0">
              <a:solidFill>
                <a:srgbClr val="C00000"/>
              </a:solidFill>
              <a:latin typeface="Abadi" panose="020B0604020104020204" pitchFamily="34" charset="0"/>
            </a:endParaRPr>
          </a:p>
        </p:txBody>
      </p:sp>
      <p:pic>
        <p:nvPicPr>
          <p:cNvPr id="20" name="Immagine 19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D8A15466-095E-5153-7A99-6757BE13107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"/>
          <a:stretch/>
        </p:blipFill>
        <p:spPr>
          <a:xfrm>
            <a:off x="5434718" y="1350309"/>
            <a:ext cx="6351764" cy="422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9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8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Feature importance and Explanation with SHAP algorithm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8EB8E9A-8628-52A8-2245-9E86E668D886}"/>
              </a:ext>
            </a:extLst>
          </p:cNvPr>
          <p:cNvSpPr txBox="1"/>
          <p:nvPr/>
        </p:nvSpPr>
        <p:spPr>
          <a:xfrm>
            <a:off x="8610600" y="1336190"/>
            <a:ext cx="34733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TOP 10 predictors of SWP</a:t>
            </a:r>
          </a:p>
          <a:p>
            <a:endParaRPr lang="en-US" sz="1800" b="1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Solar Radiation (0.095)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Wind speed (0.050)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NIR (0.030)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RH (0.030)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Green (0.025)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T min (0.025)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Red (0.020)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Green_i</a:t>
            </a:r>
            <a:r>
              <a:rPr lang="en-US" dirty="0">
                <a:latin typeface="Abadi" panose="020B0604020104020204" pitchFamily="34" charset="0"/>
              </a:rPr>
              <a:t> (0.017)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Coastal blue (0.015)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Red Edge</a:t>
            </a:r>
            <a:r>
              <a:rPr lang="en-US" sz="1800" dirty="0">
                <a:latin typeface="Abadi" panose="020B0604020104020204" pitchFamily="34" charset="0"/>
              </a:rPr>
              <a:t> (0.015)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badi" panose="020B0604020104020204" pitchFamily="34" charset="0"/>
              </a:rPr>
              <a:t>Blue (0.013)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0B60BA-70BE-6A83-CBDB-E1DCE78AE55F}"/>
              </a:ext>
            </a:extLst>
          </p:cNvPr>
          <p:cNvSpPr txBox="1"/>
          <p:nvPr/>
        </p:nvSpPr>
        <p:spPr>
          <a:xfrm>
            <a:off x="1165184" y="862596"/>
            <a:ext cx="4832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 err="1">
                <a:latin typeface="Abadi" panose="020B0604020104020204" pitchFamily="34" charset="0"/>
              </a:rPr>
              <a:t>Beeswarm</a:t>
            </a:r>
            <a:r>
              <a:rPr lang="it-IT" sz="1800" b="1" dirty="0">
                <a:latin typeface="Abadi" panose="020B0604020104020204" pitchFamily="34" charset="0"/>
              </a:rPr>
              <a:t> plot of </a:t>
            </a:r>
            <a:r>
              <a:rPr lang="it-IT" b="1" dirty="0" err="1">
                <a:latin typeface="Abadi" panose="020B0604020104020204" pitchFamily="34" charset="0"/>
              </a:rPr>
              <a:t>a</a:t>
            </a:r>
            <a:r>
              <a:rPr lang="it-IT" sz="1800" b="1" dirty="0" err="1">
                <a:latin typeface="Abadi" panose="020B0604020104020204" pitchFamily="34" charset="0"/>
              </a:rPr>
              <a:t>verage</a:t>
            </a:r>
            <a:r>
              <a:rPr lang="it-IT" sz="1800" b="1" dirty="0">
                <a:latin typeface="Abadi" panose="020B0604020104020204" pitchFamily="34" charset="0"/>
              </a:rPr>
              <a:t> SHAP </a:t>
            </a:r>
            <a:r>
              <a:rPr lang="it-IT" sz="1800" b="1" dirty="0" err="1">
                <a:latin typeface="Abadi" panose="020B0604020104020204" pitchFamily="34" charset="0"/>
              </a:rPr>
              <a:t>values</a:t>
            </a:r>
            <a:endParaRPr lang="it-IT" sz="1800" b="1" dirty="0">
              <a:latin typeface="Abadi" panose="020B0604020104020204" pitchFamily="34" charset="0"/>
            </a:endParaRPr>
          </a:p>
        </p:txBody>
      </p:sp>
      <p:pic>
        <p:nvPicPr>
          <p:cNvPr id="10" name="Immagine 9" descr="Immagine che contiene schermata, testo, Diagramma, diagramma&#10;&#10;Descrizione generata automaticamente">
            <a:extLst>
              <a:ext uri="{FF2B5EF4-FFF2-40B4-BE49-F238E27FC236}">
                <a16:creationId xmlns:a16="http://schemas.microsoft.com/office/drawing/2014/main" id="{DCCBE153-35C4-0936-AB77-8CAFF00FC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190"/>
            <a:ext cx="8323506" cy="493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7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9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Conclusions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E54791-E066-A713-97A8-3DDB7629167E}"/>
              </a:ext>
            </a:extLst>
          </p:cNvPr>
          <p:cNvSpPr txBox="1"/>
          <p:nvPr/>
        </p:nvSpPr>
        <p:spPr>
          <a:xfrm>
            <a:off x="396433" y="1061617"/>
            <a:ext cx="873599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badi" panose="020B0604020104020204" pitchFamily="34" charset="0"/>
              </a:rPr>
              <a:t>RF generalize well on independent acquisition campaigns but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Variance of predicted SWP </a:t>
            </a:r>
            <a:r>
              <a:rPr lang="en-US" sz="2000" u="sng" dirty="0">
                <a:latin typeface="Abadi" panose="020B0604020104020204" pitchFamily="34" charset="0"/>
              </a:rPr>
              <a:t>slightly</a:t>
            </a:r>
            <a:r>
              <a:rPr lang="en-US" sz="2000" dirty="0">
                <a:latin typeface="Abadi" panose="020B0604020104020204" pitchFamily="34" charset="0"/>
              </a:rPr>
              <a:t> increase when performing the independent tests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We lack sufficient statistics for a proper estimation of confidence intervals of predictions and quality metrics </a:t>
            </a:r>
          </a:p>
          <a:p>
            <a:pPr lvl="1"/>
            <a:endParaRPr lang="it-IT" sz="2000" dirty="0">
              <a:latin typeface="Abadi" panose="020B0604020104020204" pitchFamily="34" charset="0"/>
            </a:endParaRPr>
          </a:p>
          <a:p>
            <a:r>
              <a:rPr lang="it-IT" sz="2400" b="1" dirty="0">
                <a:latin typeface="Abadi" panose="020B0604020104020204" pitchFamily="34" charset="0"/>
              </a:rPr>
              <a:t>Next Steps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Collecting more ground measurements from next acquisition campaigns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Search for a better subset of input features to improve generalization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Search for better proxies of weather and phenology of plants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it-IT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59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 rot="10800000">
            <a:off x="1" y="3858373"/>
            <a:ext cx="12191999" cy="2485242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83E21-8E24-F65E-8BAB-D4CFA71F0F27}"/>
              </a:ext>
            </a:extLst>
          </p:cNvPr>
          <p:cNvSpPr txBox="1"/>
          <p:nvPr/>
        </p:nvSpPr>
        <p:spPr>
          <a:xfrm>
            <a:off x="0" y="3984081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bg1"/>
                </a:solidFill>
                <a:latin typeface="Abadi" panose="020B0604020104020204" pitchFamily="34" charset="0"/>
              </a:rPr>
              <a:t>Thank you for your attention!</a:t>
            </a:r>
            <a:endParaRPr lang="it-IT" sz="44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88EB41-4298-B614-3A08-4CC8D97A3280}"/>
              </a:ext>
            </a:extLst>
          </p:cNvPr>
          <p:cNvSpPr txBox="1"/>
          <p:nvPr/>
        </p:nvSpPr>
        <p:spPr>
          <a:xfrm>
            <a:off x="220337" y="5582664"/>
            <a:ext cx="6279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Roberto </a:t>
            </a:r>
            <a:r>
              <a:rPr lang="en-US" sz="1800" dirty="0" err="1">
                <a:solidFill>
                  <a:schemeClr val="bg1"/>
                </a:solidFill>
                <a:latin typeface="Abadi" panose="020B0604020104020204" pitchFamily="34" charset="0"/>
              </a:rPr>
              <a:t>Cilli</a:t>
            </a:r>
            <a:endParaRPr lang="en-US" sz="18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Email: 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  <a:hlinkClick r:id="rId3"/>
              </a:rPr>
              <a:t>roberto.cilli@uniba.it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endParaRPr lang="en-US" sz="1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147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11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Comparisons of different set of features (test)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E88DE42-222F-53FF-3F8D-F39627A1834B}"/>
              </a:ext>
            </a:extLst>
          </p:cNvPr>
          <p:cNvGraphicFramePr>
            <a:graphicFrameLocks noGrp="1"/>
          </p:cNvGraphicFramePr>
          <p:nvPr/>
        </p:nvGraphicFramePr>
        <p:xfrm>
          <a:off x="1388963" y="1352148"/>
          <a:ext cx="963014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5035">
                  <a:extLst>
                    <a:ext uri="{9D8B030D-6E8A-4147-A177-3AD203B41FA5}">
                      <a16:colId xmlns:a16="http://schemas.microsoft.com/office/drawing/2014/main" val="3877111421"/>
                    </a:ext>
                  </a:extLst>
                </a:gridCol>
                <a:gridCol w="1614173">
                  <a:extLst>
                    <a:ext uri="{9D8B030D-6E8A-4147-A177-3AD203B41FA5}">
                      <a16:colId xmlns:a16="http://schemas.microsoft.com/office/drawing/2014/main" val="1814681770"/>
                    </a:ext>
                  </a:extLst>
                </a:gridCol>
                <a:gridCol w="2334826">
                  <a:extLst>
                    <a:ext uri="{9D8B030D-6E8A-4147-A177-3AD203B41FA5}">
                      <a16:colId xmlns:a16="http://schemas.microsoft.com/office/drawing/2014/main" val="2468559304"/>
                    </a:ext>
                  </a:extLst>
                </a:gridCol>
                <a:gridCol w="376107">
                  <a:extLst>
                    <a:ext uri="{9D8B030D-6E8A-4147-A177-3AD203B41FA5}">
                      <a16:colId xmlns:a16="http://schemas.microsoft.com/office/drawing/2014/main" val="1284763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Features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RVAR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Pearson’s 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1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 err="1"/>
                        <a:t>Spectra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0.397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25.4%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Indexes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0.415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7.0%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89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AgERA5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0.403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26.3%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737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 err="1"/>
                        <a:t>Spectra</a:t>
                      </a:r>
                      <a:r>
                        <a:rPr lang="it-IT" sz="2400" dirty="0"/>
                        <a:t> + Indexes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0.377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30.6%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102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sng" dirty="0" err="1"/>
                        <a:t>Spectra</a:t>
                      </a:r>
                      <a:r>
                        <a:rPr lang="it-IT" sz="2400" b="1" u="sng" dirty="0"/>
                        <a:t> + AgERA5</a:t>
                      </a:r>
                      <a:endParaRPr lang="en-US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u="sng" dirty="0"/>
                        <a:t>0.364</a:t>
                      </a:r>
                      <a:endParaRPr lang="en-US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b="1" u="sng" dirty="0"/>
                        <a:t>45.3%</a:t>
                      </a:r>
                      <a:endParaRPr lang="en-US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88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/>
                        <a:t>Indexes + AgERA5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0.378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37.7%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95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 err="1"/>
                        <a:t>Spectra</a:t>
                      </a:r>
                      <a:r>
                        <a:rPr lang="it-IT" sz="2400" dirty="0"/>
                        <a:t> + Indexes + AgERA5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0.367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42.2%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39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/>
                        <a:t>Solar </a:t>
                      </a:r>
                      <a:r>
                        <a:rPr lang="it-IT" sz="2400" dirty="0" err="1"/>
                        <a:t>Radiation</a:t>
                      </a:r>
                      <a:r>
                        <a:rPr lang="it-IT" sz="2400" dirty="0"/>
                        <a:t> + </a:t>
                      </a:r>
                      <a:r>
                        <a:rPr lang="it-IT" sz="2400" dirty="0" err="1"/>
                        <a:t>Precipitation</a:t>
                      </a:r>
                      <a:r>
                        <a:rPr lang="it-IT" sz="2400" dirty="0"/>
                        <a:t> + NIR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0.333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58.1%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59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35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12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Workflow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93C1DD1-040C-800E-7E5D-B446E4681082}"/>
              </a:ext>
            </a:extLst>
          </p:cNvPr>
          <p:cNvSpPr/>
          <p:nvPr/>
        </p:nvSpPr>
        <p:spPr>
          <a:xfrm>
            <a:off x="800580" y="3218829"/>
            <a:ext cx="5295419" cy="28694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allelogramma 3">
            <a:extLst>
              <a:ext uri="{FF2B5EF4-FFF2-40B4-BE49-F238E27FC236}">
                <a16:creationId xmlns:a16="http://schemas.microsoft.com/office/drawing/2014/main" id="{E5371F1E-29B9-0ED6-13E1-DC4B970BFF04}"/>
              </a:ext>
            </a:extLst>
          </p:cNvPr>
          <p:cNvSpPr/>
          <p:nvPr/>
        </p:nvSpPr>
        <p:spPr>
          <a:xfrm>
            <a:off x="5543315" y="1027494"/>
            <a:ext cx="2673752" cy="72528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of SWP and Spectra</a:t>
            </a:r>
          </a:p>
        </p:txBody>
      </p:sp>
      <p:sp>
        <p:nvSpPr>
          <p:cNvPr id="5" name="Parallelogramma 4">
            <a:extLst>
              <a:ext uri="{FF2B5EF4-FFF2-40B4-BE49-F238E27FC236}">
                <a16:creationId xmlns:a16="http://schemas.microsoft.com/office/drawing/2014/main" id="{8D4AC777-D783-78D2-925D-B8916F9FB029}"/>
              </a:ext>
            </a:extLst>
          </p:cNvPr>
          <p:cNvSpPr/>
          <p:nvPr/>
        </p:nvSpPr>
        <p:spPr>
          <a:xfrm>
            <a:off x="2189544" y="2019783"/>
            <a:ext cx="2673752" cy="72528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2022 Dataset</a:t>
            </a:r>
            <a:endParaRPr lang="en-US" dirty="0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BA92F03E-024E-A1D3-0511-27870F9B2283}"/>
              </a:ext>
            </a:extLst>
          </p:cNvPr>
          <p:cNvSpPr/>
          <p:nvPr/>
        </p:nvSpPr>
        <p:spPr>
          <a:xfrm>
            <a:off x="8665580" y="2080655"/>
            <a:ext cx="2673752" cy="72528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2023 Dataset</a:t>
            </a:r>
            <a:endParaRPr lang="en-US" dirty="0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01962BE7-758E-FBC2-8BA8-CB1A174BDDEA}"/>
              </a:ext>
            </a:extLst>
          </p:cNvPr>
          <p:cNvSpPr/>
          <p:nvPr/>
        </p:nvSpPr>
        <p:spPr>
          <a:xfrm>
            <a:off x="1045580" y="3429001"/>
            <a:ext cx="1857738" cy="60873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Training Set</a:t>
            </a:r>
            <a:endParaRPr lang="en-US" sz="1600" dirty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4909C61D-65A9-E356-A7E7-77CB64774BFA}"/>
              </a:ext>
            </a:extLst>
          </p:cNvPr>
          <p:cNvSpPr/>
          <p:nvPr/>
        </p:nvSpPr>
        <p:spPr>
          <a:xfrm>
            <a:off x="3900666" y="3429000"/>
            <a:ext cx="1857738" cy="608739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Validation Set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4D7E381-B1F1-1229-7791-B7182D327F9A}"/>
              </a:ext>
            </a:extLst>
          </p:cNvPr>
          <p:cNvSpPr/>
          <p:nvPr/>
        </p:nvSpPr>
        <p:spPr>
          <a:xfrm>
            <a:off x="1119851" y="4329847"/>
            <a:ext cx="1709195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Random Forest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BBDAE01-2E35-4966-B0D1-545B3B772458}"/>
              </a:ext>
            </a:extLst>
          </p:cNvPr>
          <p:cNvCxnSpPr>
            <a:stCxn id="4" idx="4"/>
            <a:endCxn id="5" idx="1"/>
          </p:cNvCxnSpPr>
          <p:nvPr/>
        </p:nvCxnSpPr>
        <p:spPr>
          <a:xfrm flipH="1">
            <a:off x="3617081" y="1752779"/>
            <a:ext cx="3263110" cy="2670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92E3BE7-EDB6-1C1C-654E-2F28BB989DB2}"/>
              </a:ext>
            </a:extLst>
          </p:cNvPr>
          <p:cNvCxnSpPr>
            <a:cxnSpLocks/>
            <a:stCxn id="4" idx="4"/>
            <a:endCxn id="6" idx="1"/>
          </p:cNvCxnSpPr>
          <p:nvPr/>
        </p:nvCxnSpPr>
        <p:spPr>
          <a:xfrm>
            <a:off x="6880191" y="1752779"/>
            <a:ext cx="3212926" cy="3278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95EC438-0EF5-833E-DAE6-1CBF2D911BDC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1974449" y="2745068"/>
            <a:ext cx="1551971" cy="6839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C2381BE-2A4F-F4A6-8D65-30807EA095F6}"/>
              </a:ext>
            </a:extLst>
          </p:cNvPr>
          <p:cNvCxnSpPr>
            <a:cxnSpLocks/>
            <a:stCxn id="5" idx="4"/>
            <a:endCxn id="10" idx="1"/>
          </p:cNvCxnSpPr>
          <p:nvPr/>
        </p:nvCxnSpPr>
        <p:spPr>
          <a:xfrm>
            <a:off x="3526420" y="2745068"/>
            <a:ext cx="1379207" cy="6839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4E11A30-D1A2-3677-B1F0-7A464262DBDB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1974449" y="4037739"/>
            <a:ext cx="0" cy="2921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6600D6A-84EE-5210-4108-C10EB201A6EE}"/>
              </a:ext>
            </a:extLst>
          </p:cNvPr>
          <p:cNvSpPr txBox="1"/>
          <p:nvPr/>
        </p:nvSpPr>
        <p:spPr>
          <a:xfrm>
            <a:off x="248848" y="6124482"/>
            <a:ext cx="6094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 dirty="0">
                <a:latin typeface="Abadi" panose="020B0604020104020204" pitchFamily="34" charset="0"/>
              </a:rPr>
              <a:t>100 </a:t>
            </a:r>
            <a:r>
              <a:rPr lang="it-IT" sz="1400" i="1" dirty="0" err="1">
                <a:latin typeface="Abadi" panose="020B0604020104020204" pitchFamily="34" charset="0"/>
              </a:rPr>
              <a:t>hold</a:t>
            </a:r>
            <a:r>
              <a:rPr lang="it-IT" sz="1400" i="1" dirty="0">
                <a:latin typeface="Abadi" panose="020B0604020104020204" pitchFamily="34" charset="0"/>
              </a:rPr>
              <a:t>-out CV rounds (80-20 rule)</a:t>
            </a:r>
            <a:endParaRPr lang="en-US" sz="1400" i="1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6F339159-ABEC-AFDB-6B0C-EAF237DE19A8}"/>
              </a:ext>
            </a:extLst>
          </p:cNvPr>
          <p:cNvSpPr/>
          <p:nvPr/>
        </p:nvSpPr>
        <p:spPr>
          <a:xfrm>
            <a:off x="3974935" y="5193302"/>
            <a:ext cx="1709195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SHAP algorithm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E12B637C-1C1B-5276-51CE-F90DF22D7CC6}"/>
              </a:ext>
            </a:extLst>
          </p:cNvPr>
          <p:cNvSpPr/>
          <p:nvPr/>
        </p:nvSpPr>
        <p:spPr>
          <a:xfrm>
            <a:off x="3974936" y="4320507"/>
            <a:ext cx="1709195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Regression Model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3D621441-4D3E-75DE-39C0-174D98417F65}"/>
              </a:ext>
            </a:extLst>
          </p:cNvPr>
          <p:cNvCxnSpPr>
            <a:cxnSpLocks/>
            <a:stCxn id="11" idx="3"/>
            <a:endCxn id="35" idx="1"/>
          </p:cNvCxnSpPr>
          <p:nvPr/>
        </p:nvCxnSpPr>
        <p:spPr>
          <a:xfrm flipV="1">
            <a:off x="2829046" y="4624876"/>
            <a:ext cx="1145890" cy="93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16D90DA5-1E8A-0D3E-D9B4-CF0F37CF8C25}"/>
              </a:ext>
            </a:extLst>
          </p:cNvPr>
          <p:cNvCxnSpPr>
            <a:cxnSpLocks/>
            <a:stCxn id="35" idx="0"/>
            <a:endCxn id="50" idx="1"/>
          </p:cNvCxnSpPr>
          <p:nvPr/>
        </p:nvCxnSpPr>
        <p:spPr>
          <a:xfrm flipV="1">
            <a:off x="4829534" y="3733368"/>
            <a:ext cx="1628065" cy="5871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6793551C-E8CD-DF18-A446-08E940174688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5682312" y="3733369"/>
            <a:ext cx="825559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ABDE9196-B6B8-1841-764C-924C25294FF9}"/>
              </a:ext>
            </a:extLst>
          </p:cNvPr>
          <p:cNvSpPr/>
          <p:nvPr/>
        </p:nvSpPr>
        <p:spPr>
          <a:xfrm>
            <a:off x="6457599" y="3428999"/>
            <a:ext cx="1759468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Evaluation on 2022 data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C6CA337E-6875-73D2-840C-45A7B28B0E8F}"/>
              </a:ext>
            </a:extLst>
          </p:cNvPr>
          <p:cNvSpPr/>
          <p:nvPr/>
        </p:nvSpPr>
        <p:spPr>
          <a:xfrm>
            <a:off x="6429737" y="4316520"/>
            <a:ext cx="1869311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Average Regression Model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4A1A42AD-3CE6-E512-2075-E84D09B7CC3E}"/>
              </a:ext>
            </a:extLst>
          </p:cNvPr>
          <p:cNvCxnSpPr>
            <a:cxnSpLocks/>
            <a:stCxn id="35" idx="3"/>
            <a:endCxn id="52" idx="1"/>
          </p:cNvCxnSpPr>
          <p:nvPr/>
        </p:nvCxnSpPr>
        <p:spPr>
          <a:xfrm flipV="1">
            <a:off x="5684131" y="4620889"/>
            <a:ext cx="745606" cy="3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C7209A05-9FF8-D2C9-A3A6-1C917F3A0985}"/>
              </a:ext>
            </a:extLst>
          </p:cNvPr>
          <p:cNvCxnSpPr>
            <a:cxnSpLocks/>
            <a:stCxn id="35" idx="2"/>
            <a:endCxn id="30" idx="0"/>
          </p:cNvCxnSpPr>
          <p:nvPr/>
        </p:nvCxnSpPr>
        <p:spPr>
          <a:xfrm flipH="1">
            <a:off x="4829533" y="4929245"/>
            <a:ext cx="1" cy="2640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ttangolo 61">
            <a:extLst>
              <a:ext uri="{FF2B5EF4-FFF2-40B4-BE49-F238E27FC236}">
                <a16:creationId xmlns:a16="http://schemas.microsoft.com/office/drawing/2014/main" id="{D6F51A97-5DA5-C9D7-3BBD-17B2BC5FCC48}"/>
              </a:ext>
            </a:extLst>
          </p:cNvPr>
          <p:cNvSpPr/>
          <p:nvPr/>
        </p:nvSpPr>
        <p:spPr>
          <a:xfrm>
            <a:off x="6457599" y="5192466"/>
            <a:ext cx="1759468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Model </a:t>
            </a:r>
            <a:r>
              <a:rPr lang="it-IT" sz="1600" dirty="0" err="1"/>
              <a:t>Explanation</a:t>
            </a:r>
            <a:endParaRPr lang="en-US" sz="1600" dirty="0"/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11A80B9D-C482-234F-6354-83F9ACE2381E}"/>
              </a:ext>
            </a:extLst>
          </p:cNvPr>
          <p:cNvCxnSpPr>
            <a:cxnSpLocks/>
            <a:stCxn id="30" idx="3"/>
            <a:endCxn id="62" idx="1"/>
          </p:cNvCxnSpPr>
          <p:nvPr/>
        </p:nvCxnSpPr>
        <p:spPr>
          <a:xfrm flipV="1">
            <a:off x="5684130" y="5496835"/>
            <a:ext cx="773469" cy="8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ttangolo 65">
            <a:extLst>
              <a:ext uri="{FF2B5EF4-FFF2-40B4-BE49-F238E27FC236}">
                <a16:creationId xmlns:a16="http://schemas.microsoft.com/office/drawing/2014/main" id="{85D52C30-EB73-096F-6BE1-7737BEA34FC4}"/>
              </a:ext>
            </a:extLst>
          </p:cNvPr>
          <p:cNvSpPr/>
          <p:nvPr/>
        </p:nvSpPr>
        <p:spPr>
          <a:xfrm>
            <a:off x="8997358" y="4300109"/>
            <a:ext cx="1969683" cy="62384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Model Evaluation on 2023 data (test)</a:t>
            </a:r>
            <a:endParaRPr lang="en-US" sz="1600" dirty="0"/>
          </a:p>
        </p:txBody>
      </p: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3B0BE769-2D8A-52CF-85CB-BD120A1B17B7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299048" y="4612030"/>
            <a:ext cx="69831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FEAEE518-B275-BDDD-52E2-99662F1E431D}"/>
              </a:ext>
            </a:extLst>
          </p:cNvPr>
          <p:cNvCxnSpPr>
            <a:cxnSpLocks/>
            <a:stCxn id="6" idx="4"/>
            <a:endCxn id="66" idx="0"/>
          </p:cNvCxnSpPr>
          <p:nvPr/>
        </p:nvCxnSpPr>
        <p:spPr>
          <a:xfrm flipH="1">
            <a:off x="9982200" y="2805940"/>
            <a:ext cx="20256" cy="14941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495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139BDD9B-05C9-1424-D3EB-F5068469B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8"/>
          <a:stretch/>
        </p:blipFill>
        <p:spPr>
          <a:xfrm>
            <a:off x="115747" y="3713590"/>
            <a:ext cx="6227180" cy="307015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13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2022 and 2023 independent tests</a:t>
            </a:r>
          </a:p>
        </p:txBody>
      </p:sp>
      <p:pic>
        <p:nvPicPr>
          <p:cNvPr id="5" name="Immagine 4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6AB633B0-B367-C5F2-8CF4-B92CB979A2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8"/>
          <a:stretch/>
        </p:blipFill>
        <p:spPr>
          <a:xfrm>
            <a:off x="115747" y="793190"/>
            <a:ext cx="6227180" cy="302976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FE0D7B-5116-1B02-27D1-F19E3DAAF6EB}"/>
              </a:ext>
            </a:extLst>
          </p:cNvPr>
          <p:cNvSpPr txBox="1"/>
          <p:nvPr/>
        </p:nvSpPr>
        <p:spPr>
          <a:xfrm>
            <a:off x="732100" y="955440"/>
            <a:ext cx="1478665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Abadi" panose="020B0604020104020204" pitchFamily="34" charset="0"/>
              </a:rPr>
              <a:t>Year 2022</a:t>
            </a:r>
          </a:p>
          <a:p>
            <a:r>
              <a:rPr lang="en-US" sz="1400" b="1" dirty="0">
                <a:latin typeface="Abadi" panose="020B0604020104020204" pitchFamily="34" charset="0"/>
              </a:rPr>
              <a:t>RVAR = 0.31</a:t>
            </a:r>
          </a:p>
          <a:p>
            <a:r>
              <a:rPr lang="en-US" sz="1400" b="1" dirty="0">
                <a:latin typeface="Abadi" panose="020B0604020104020204" pitchFamily="34" charset="0"/>
              </a:rPr>
              <a:t>BIAS = 0.29</a:t>
            </a:r>
          </a:p>
          <a:p>
            <a:r>
              <a:rPr lang="en-US" sz="1400" b="1" dirty="0">
                <a:latin typeface="Abadi" panose="020B0604020104020204" pitchFamily="34" charset="0"/>
              </a:rPr>
              <a:t>CORR = 66.5%</a:t>
            </a:r>
            <a:endParaRPr lang="en-US" sz="14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40D0CAC-9DAE-5DF4-2663-6D7496495D1F}"/>
              </a:ext>
            </a:extLst>
          </p:cNvPr>
          <p:cNvSpPr txBox="1"/>
          <p:nvPr/>
        </p:nvSpPr>
        <p:spPr>
          <a:xfrm>
            <a:off x="732100" y="3985208"/>
            <a:ext cx="1478665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Abadi" panose="020B0604020104020204" pitchFamily="34" charset="0"/>
              </a:rPr>
              <a:t>Year 2023</a:t>
            </a:r>
          </a:p>
          <a:p>
            <a:r>
              <a:rPr lang="en-US" sz="1400" b="1" dirty="0">
                <a:latin typeface="Abadi" panose="020B0604020104020204" pitchFamily="34" charset="0"/>
              </a:rPr>
              <a:t>RVAR = 0.33</a:t>
            </a:r>
          </a:p>
          <a:p>
            <a:r>
              <a:rPr lang="en-US" sz="1400" b="1" dirty="0">
                <a:latin typeface="Abadi" panose="020B0604020104020204" pitchFamily="34" charset="0"/>
              </a:rPr>
              <a:t>BIAS = -0.4</a:t>
            </a:r>
          </a:p>
          <a:p>
            <a:r>
              <a:rPr lang="en-US" sz="1400" b="1" dirty="0">
                <a:latin typeface="Abadi" panose="020B0604020104020204" pitchFamily="34" charset="0"/>
              </a:rPr>
              <a:t>CORR = 50.0%</a:t>
            </a:r>
            <a:endParaRPr lang="en-US" sz="1400" dirty="0"/>
          </a:p>
        </p:txBody>
      </p:sp>
      <p:pic>
        <p:nvPicPr>
          <p:cNvPr id="14" name="Immagine 13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57D236E2-1052-BF60-4B91-495CE69312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t="724" r="2036" b="-1"/>
          <a:stretch/>
        </p:blipFill>
        <p:spPr>
          <a:xfrm>
            <a:off x="6534370" y="1180618"/>
            <a:ext cx="4925530" cy="5231722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9169897-5539-D303-C985-52DC3A5D8E2F}"/>
              </a:ext>
            </a:extLst>
          </p:cNvPr>
          <p:cNvSpPr txBox="1"/>
          <p:nvPr/>
        </p:nvSpPr>
        <p:spPr>
          <a:xfrm>
            <a:off x="8202592" y="839489"/>
            <a:ext cx="3045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Average Feature Importance</a:t>
            </a:r>
            <a:endParaRPr lang="en-US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946BD01-7A4B-CFFE-3998-B7036E3BE598}"/>
              </a:ext>
            </a:extLst>
          </p:cNvPr>
          <p:cNvSpPr txBox="1"/>
          <p:nvPr/>
        </p:nvSpPr>
        <p:spPr>
          <a:xfrm>
            <a:off x="6095999" y="3889036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*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Aggiungere</a:t>
            </a:r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 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colori</a:t>
            </a:r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 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Zeuli</a:t>
            </a:r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 – 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Tormaresca</a:t>
            </a:r>
            <a:endParaRPr lang="en-US" b="1" dirty="0">
              <a:solidFill>
                <a:srgbClr val="C00000"/>
              </a:solidFill>
              <a:latin typeface="Abadi" panose="020B0604020104020204" pitchFamily="34" charset="0"/>
            </a:endParaRPr>
          </a:p>
          <a:p>
            <a:pPr algn="r"/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*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Menzionare</a:t>
            </a:r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 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eteregeneità</a:t>
            </a:r>
            <a:r>
              <a:rPr lang="en-US" sz="1800" b="1" dirty="0">
                <a:solidFill>
                  <a:srgbClr val="C00000"/>
                </a:solidFill>
                <a:latin typeface="Abadi" panose="020B0604020104020204" pitchFamily="34" charset="0"/>
              </a:rPr>
              <a:t> </a:t>
            </a:r>
            <a:r>
              <a:rPr lang="en-US" sz="1800" b="1" dirty="0" err="1">
                <a:solidFill>
                  <a:srgbClr val="C00000"/>
                </a:solidFill>
                <a:latin typeface="Abadi" panose="020B0604020104020204" pitchFamily="34" charset="0"/>
              </a:rPr>
              <a:t>varietale</a:t>
            </a:r>
            <a:endParaRPr lang="en-US" sz="1800" b="1" dirty="0">
              <a:solidFill>
                <a:srgbClr val="C0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2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14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Learning and Validation Phase</a:t>
            </a:r>
          </a:p>
        </p:txBody>
      </p:sp>
      <p:pic>
        <p:nvPicPr>
          <p:cNvPr id="6" name="Immagine 5" descr="Immagine che contiene testo, diagramma, schermata, mappa&#10;&#10;Descrizione generata automaticamente">
            <a:extLst>
              <a:ext uri="{FF2B5EF4-FFF2-40B4-BE49-F238E27FC236}">
                <a16:creationId xmlns:a16="http://schemas.microsoft.com/office/drawing/2014/main" id="{284C1111-2BD9-33E4-130C-787CC0932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07" y="1207509"/>
            <a:ext cx="8099384" cy="553628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BA5FE1B-A1B3-C74D-7F71-215095439A3E}"/>
              </a:ext>
            </a:extLst>
          </p:cNvPr>
          <p:cNvSpPr txBox="1"/>
          <p:nvPr/>
        </p:nvSpPr>
        <p:spPr>
          <a:xfrm>
            <a:off x="2858705" y="1576841"/>
            <a:ext cx="4178703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badi" panose="020B0604020104020204" pitchFamily="34" charset="0"/>
              </a:rPr>
              <a:t>Average Performance in CV (random shuffling):</a:t>
            </a:r>
          </a:p>
          <a:p>
            <a:pPr lvl="1"/>
            <a:r>
              <a:rPr lang="en-US" sz="1600" b="1" dirty="0">
                <a:latin typeface="Abadi" panose="020B0604020104020204" pitchFamily="34" charset="0"/>
              </a:rPr>
              <a:t>RMSE: 0.28</a:t>
            </a:r>
          </a:p>
          <a:p>
            <a:pPr lvl="1"/>
            <a:r>
              <a:rPr lang="en-US" sz="1600" b="1" dirty="0">
                <a:latin typeface="Abadi" panose="020B0604020104020204" pitchFamily="34" charset="0"/>
              </a:rPr>
              <a:t>Pearson’s R: 0.74%</a:t>
            </a:r>
            <a:endParaRPr lang="en-US" sz="16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0749569-8920-2986-1D40-644F4B46D7B3}"/>
              </a:ext>
            </a:extLst>
          </p:cNvPr>
          <p:cNvSpPr txBox="1"/>
          <p:nvPr/>
        </p:nvSpPr>
        <p:spPr>
          <a:xfrm>
            <a:off x="280686" y="91177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dirty="0">
                <a:solidFill>
                  <a:srgbClr val="C00000"/>
                </a:solidFill>
              </a:rPr>
              <a:t>*Day +  </a:t>
            </a:r>
            <a:r>
              <a:rPr lang="it-IT" sz="1800" b="1" dirty="0" err="1">
                <a:solidFill>
                  <a:srgbClr val="C00000"/>
                </a:solidFill>
              </a:rPr>
              <a:t>Spectra</a:t>
            </a:r>
            <a:r>
              <a:rPr lang="it-IT" sz="1800" b="1" dirty="0">
                <a:solidFill>
                  <a:srgbClr val="C00000"/>
                </a:solidFill>
              </a:rPr>
              <a:t> + Indexes + AgERA5</a:t>
            </a:r>
            <a:r>
              <a:rPr lang="en-US" sz="1800" b="1" dirty="0">
                <a:solidFill>
                  <a:srgbClr val="C00000"/>
                </a:solidFill>
              </a:rPr>
              <a:t> + XY</a:t>
            </a:r>
          </a:p>
        </p:txBody>
      </p:sp>
    </p:spTree>
    <p:extLst>
      <p:ext uri="{BB962C8B-B14F-4D97-AF65-F5344CB8AC3E}">
        <p14:creationId xmlns:p14="http://schemas.microsoft.com/office/powerpoint/2010/main" val="910932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15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latin typeface="Abadi" panose="020B0604020104020204" pitchFamily="34" charset="0"/>
              </a:rPr>
              <a:t>R</a:t>
            </a:r>
            <a:r>
              <a:rPr lang="en-US" sz="3200" b="1" dirty="0" err="1">
                <a:solidFill>
                  <a:schemeClr val="bg1"/>
                </a:solidFill>
                <a:latin typeface="Abadi" panose="020B0604020104020204" pitchFamily="34" charset="0"/>
              </a:rPr>
              <a:t>esults</a:t>
            </a:r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: Spatial Correlation Length</a:t>
            </a:r>
          </a:p>
        </p:txBody>
      </p:sp>
      <p:pic>
        <p:nvPicPr>
          <p:cNvPr id="4" name="Immagine 3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F5E368B5-6856-69EF-EF46-324C57B7F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923" y="1154099"/>
            <a:ext cx="4158151" cy="4342355"/>
          </a:xfrm>
          <a:prstGeom prst="rect">
            <a:avLst/>
          </a:prstGeom>
        </p:spPr>
      </p:pic>
      <p:pic>
        <p:nvPicPr>
          <p:cNvPr id="6" name="Immagine 5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92C9D56B-10AA-6E4F-BE3C-263C88340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5" y="1154099"/>
            <a:ext cx="3934000" cy="434235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1020193-3221-C6C4-B79F-1B40EB0F588C}"/>
              </a:ext>
            </a:extLst>
          </p:cNvPr>
          <p:cNvSpPr txBox="1"/>
          <p:nvPr/>
        </p:nvSpPr>
        <p:spPr>
          <a:xfrm>
            <a:off x="1089070" y="823610"/>
            <a:ext cx="2416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 err="1">
                <a:latin typeface="Abadi" panose="020B0604020104020204" pitchFamily="34" charset="0"/>
              </a:rPr>
              <a:t>Semivariogram</a:t>
            </a:r>
            <a:r>
              <a:rPr lang="it-IT" sz="1800" b="1" dirty="0">
                <a:latin typeface="Abadi" panose="020B0604020104020204" pitchFamily="34" charset="0"/>
              </a:rPr>
              <a:t> of SWP</a:t>
            </a:r>
            <a:endParaRPr lang="en-US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438F357-4773-CF6A-F335-172FEBC266DA}"/>
              </a:ext>
            </a:extLst>
          </p:cNvPr>
          <p:cNvSpPr txBox="1"/>
          <p:nvPr/>
        </p:nvSpPr>
        <p:spPr>
          <a:xfrm>
            <a:off x="4434250" y="813563"/>
            <a:ext cx="3872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 err="1">
                <a:latin typeface="Abadi" panose="020B0604020104020204" pitchFamily="34" charset="0"/>
              </a:rPr>
              <a:t>Semivariogram</a:t>
            </a:r>
            <a:r>
              <a:rPr lang="it-IT" sz="1800" b="1" dirty="0">
                <a:latin typeface="Abadi" panose="020B0604020104020204" pitchFamily="34" charset="0"/>
              </a:rPr>
              <a:t> of NIR (ground points)</a:t>
            </a:r>
            <a:endParaRPr lang="en-US" b="1" dirty="0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5E857A3A-7B6E-9AE4-E097-747BB2FA6D8A}"/>
              </a:ext>
            </a:extLst>
          </p:cNvPr>
          <p:cNvCxnSpPr>
            <a:cxnSpLocks/>
          </p:cNvCxnSpPr>
          <p:nvPr/>
        </p:nvCxnSpPr>
        <p:spPr>
          <a:xfrm>
            <a:off x="624315" y="3785371"/>
            <a:ext cx="3299503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9ECF8B72-F74E-5ACB-3FCD-3939CA6A682E}"/>
              </a:ext>
            </a:extLst>
          </p:cNvPr>
          <p:cNvCxnSpPr>
            <a:cxnSpLocks/>
          </p:cNvCxnSpPr>
          <p:nvPr/>
        </p:nvCxnSpPr>
        <p:spPr>
          <a:xfrm flipV="1">
            <a:off x="4631085" y="4630321"/>
            <a:ext cx="3367021" cy="192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magine 17">
            <a:extLst>
              <a:ext uri="{FF2B5EF4-FFF2-40B4-BE49-F238E27FC236}">
                <a16:creationId xmlns:a16="http://schemas.microsoft.com/office/drawing/2014/main" id="{9F83068B-895B-B76B-F982-4C4090A6B3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9695" y="1033970"/>
            <a:ext cx="3872197" cy="4455359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16892EA-D45B-2532-0F31-3E8E3A2A5195}"/>
              </a:ext>
            </a:extLst>
          </p:cNvPr>
          <p:cNvSpPr txBox="1"/>
          <p:nvPr/>
        </p:nvSpPr>
        <p:spPr>
          <a:xfrm>
            <a:off x="8592401" y="821171"/>
            <a:ext cx="3599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 err="1">
                <a:latin typeface="Abadi" panose="020B0604020104020204" pitchFamily="34" charset="0"/>
              </a:rPr>
              <a:t>Semivariogram</a:t>
            </a:r>
            <a:r>
              <a:rPr lang="it-IT" sz="1800" b="1" dirty="0">
                <a:latin typeface="Abadi" panose="020B0604020104020204" pitchFamily="34" charset="0"/>
              </a:rPr>
              <a:t> of NIR (Planet </a:t>
            </a:r>
            <a:r>
              <a:rPr lang="it-IT" sz="1800" b="1" dirty="0" err="1">
                <a:latin typeface="Abadi" panose="020B0604020104020204" pitchFamily="34" charset="0"/>
              </a:rPr>
              <a:t>Map</a:t>
            </a:r>
            <a:r>
              <a:rPr lang="it-IT" sz="1800" b="1" dirty="0">
                <a:latin typeface="Abadi" panose="020B0604020104020204" pitchFamily="34" charset="0"/>
              </a:rPr>
              <a:t>)</a:t>
            </a:r>
            <a:endParaRPr lang="en-US" b="1" dirty="0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42E2AB04-D94C-4A53-D8E2-C044F20725A8}"/>
              </a:ext>
            </a:extLst>
          </p:cNvPr>
          <p:cNvCxnSpPr>
            <a:cxnSpLocks/>
          </p:cNvCxnSpPr>
          <p:nvPr/>
        </p:nvCxnSpPr>
        <p:spPr>
          <a:xfrm>
            <a:off x="8754744" y="1692364"/>
            <a:ext cx="320749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27D8E03-474D-A27D-8CAD-D8484BAAEB30}"/>
              </a:ext>
            </a:extLst>
          </p:cNvPr>
          <p:cNvSpPr txBox="1"/>
          <p:nvPr/>
        </p:nvSpPr>
        <p:spPr>
          <a:xfrm>
            <a:off x="624315" y="5532734"/>
            <a:ext cx="94403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 err="1">
                <a:latin typeface="Abadi" panose="020B0604020104020204" pitchFamily="34" charset="0"/>
              </a:rPr>
              <a:t>Semivariogramma</a:t>
            </a:r>
            <a:r>
              <a:rPr lang="it-IT" sz="1600" b="1" dirty="0">
                <a:latin typeface="Abadi" panose="020B0604020104020204" pitchFamily="34" charset="0"/>
              </a:rPr>
              <a:t> calcolato @ 3m di </a:t>
            </a:r>
            <a:r>
              <a:rPr lang="it-IT" sz="1600" b="1" dirty="0" err="1">
                <a:latin typeface="Abadi" panose="020B0604020104020204" pitchFamily="34" charset="0"/>
              </a:rPr>
              <a:t>spatial</a:t>
            </a:r>
            <a:r>
              <a:rPr lang="it-IT" sz="1600" b="1" dirty="0">
                <a:latin typeface="Abadi" panose="020B0604020104020204" pitchFamily="34" charset="0"/>
              </a:rPr>
              <a:t> lag: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badi" panose="020B0604020104020204" pitchFamily="34" charset="0"/>
              </a:rPr>
              <a:t>Nessuna lunghezza di autocorrelazione SWP – </a:t>
            </a:r>
            <a:r>
              <a:rPr lang="it-IT" sz="1600" u="sng" dirty="0">
                <a:latin typeface="Abadi" panose="020B0604020104020204" pitchFamily="34" charset="0"/>
              </a:rPr>
              <a:t>Forse</a:t>
            </a:r>
            <a:r>
              <a:rPr lang="it-IT" sz="1600" dirty="0">
                <a:latin typeface="Abadi" panose="020B0604020104020204" pitchFamily="34" charset="0"/>
              </a:rPr>
              <a:t> Possiamo eseguire random </a:t>
            </a:r>
            <a:r>
              <a:rPr lang="it-IT" sz="1600" dirty="0" err="1">
                <a:latin typeface="Abadi" panose="020B0604020104020204" pitchFamily="34" charset="0"/>
              </a:rPr>
              <a:t>shuffling</a:t>
            </a:r>
            <a:r>
              <a:rPr lang="it-IT" sz="1600" dirty="0">
                <a:latin typeface="Abadi" panose="020B0604020104020204" pitchFamily="34" charset="0"/>
              </a:rPr>
              <a:t> esempi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badi" panose="020B0604020104020204" pitchFamily="34" charset="0"/>
              </a:rPr>
              <a:t>Lunghezza autocorrelazione bande ottiche: circa 400m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badi" panose="020B0604020104020204" pitchFamily="34" charset="0"/>
              </a:rPr>
              <a:t>Set di feature spazialmente ridondanti usate per predizione di variabile non ridondante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badi" panose="020B0604020104020204" pitchFamily="34" charset="0"/>
              </a:rPr>
              <a:t>Distribuzione campioni non perfetta per questo tipo di analisi [questo lo omettiamo a Bologna]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8576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16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Linear Discriminant Analysis and RF classifier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86F497-767A-75E2-6F8E-980AE2B20826}"/>
              </a:ext>
            </a:extLst>
          </p:cNvPr>
          <p:cNvSpPr txBox="1"/>
          <p:nvPr/>
        </p:nvSpPr>
        <p:spPr>
          <a:xfrm>
            <a:off x="441768" y="903291"/>
            <a:ext cx="816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*Esperimento 2 – Spettri PlanetScope + Julian Day + </a:t>
            </a:r>
            <a:r>
              <a:rPr lang="it-IT" sz="1800" b="1" dirty="0" err="1">
                <a:latin typeface="Abadi" panose="020B0604020104020204" pitchFamily="34" charset="0"/>
              </a:rPr>
              <a:t>Lon</a:t>
            </a:r>
            <a:r>
              <a:rPr lang="it-IT" sz="1800" b="1" dirty="0">
                <a:latin typeface="Abadi" panose="020B0604020104020204" pitchFamily="34" charset="0"/>
              </a:rPr>
              <a:t> + </a:t>
            </a:r>
            <a:r>
              <a:rPr lang="it-IT" sz="1800" b="1" dirty="0" err="1">
                <a:latin typeface="Abadi" panose="020B0604020104020204" pitchFamily="34" charset="0"/>
              </a:rPr>
              <a:t>Lat</a:t>
            </a:r>
            <a:r>
              <a:rPr lang="it-IT" sz="1800" b="1" dirty="0">
                <a:latin typeface="Abadi" panose="020B0604020104020204" pitchFamily="34" charset="0"/>
              </a:rPr>
              <a:t> + </a:t>
            </a:r>
            <a:r>
              <a:rPr lang="it-IT" sz="1800" b="1" dirty="0" err="1">
                <a:latin typeface="Abadi" panose="020B0604020104020204" pitchFamily="34" charset="0"/>
              </a:rPr>
              <a:t>SWP_offset</a:t>
            </a:r>
            <a:r>
              <a:rPr lang="it-IT" sz="1800" b="1" dirty="0">
                <a:latin typeface="Abadi" panose="020B0604020104020204" pitchFamily="34" charset="0"/>
              </a:rPr>
              <a:t> </a:t>
            </a:r>
            <a:endParaRPr lang="en-US" dirty="0"/>
          </a:p>
        </p:txBody>
      </p:sp>
      <p:pic>
        <p:nvPicPr>
          <p:cNvPr id="5" name="Immagine 4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68C38BFF-9A13-A525-D75F-46160D5DE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4" y="1514900"/>
            <a:ext cx="5048853" cy="4644680"/>
          </a:xfrm>
          <a:prstGeom prst="rect">
            <a:avLst/>
          </a:prstGeom>
        </p:spPr>
      </p:pic>
      <p:pic>
        <p:nvPicPr>
          <p:cNvPr id="7" name="Immagine 6" descr="Immagine che contiene diagramma, schermata, Policromia, linea&#10;&#10;Descrizione generata automaticamente">
            <a:extLst>
              <a:ext uri="{FF2B5EF4-FFF2-40B4-BE49-F238E27FC236}">
                <a16:creationId xmlns:a16="http://schemas.microsoft.com/office/drawing/2014/main" id="{163A9CF5-1387-8D91-3124-74DB36FA7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791" y="1514900"/>
            <a:ext cx="5887504" cy="425514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F6F33D3-C720-3038-5343-0829F2AA3B5C}"/>
              </a:ext>
            </a:extLst>
          </p:cNvPr>
          <p:cNvSpPr txBox="1"/>
          <p:nvPr/>
        </p:nvSpPr>
        <p:spPr>
          <a:xfrm>
            <a:off x="328914" y="6401857"/>
            <a:ext cx="992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 err="1">
                <a:latin typeface="Abadi" panose="020B0604020104020204" pitchFamily="34" charset="0"/>
              </a:rPr>
              <a:t>Cohen’s</a:t>
            </a:r>
            <a:r>
              <a:rPr lang="it-IT" sz="1800" b="1" dirty="0">
                <a:latin typeface="Abadi" panose="020B0604020104020204" pitchFamily="34" charset="0"/>
              </a:rPr>
              <a:t> Kappa dopo 1000 round di </a:t>
            </a:r>
            <a:r>
              <a:rPr lang="it-IT" sz="1800" b="1" dirty="0" err="1">
                <a:latin typeface="Abadi" panose="020B0604020104020204" pitchFamily="34" charset="0"/>
              </a:rPr>
              <a:t>hold</a:t>
            </a:r>
            <a:r>
              <a:rPr lang="it-IT" sz="1800" b="1" dirty="0">
                <a:latin typeface="Abadi" panose="020B0604020104020204" pitchFamily="34" charset="0"/>
              </a:rPr>
              <a:t>-out CV 80-20:   (0.305 – 0.402 – 0.496) 95% CI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5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17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Results: Leave-one-year-out independent test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86F497-767A-75E2-6F8E-980AE2B20826}"/>
              </a:ext>
            </a:extLst>
          </p:cNvPr>
          <p:cNvSpPr txBox="1"/>
          <p:nvPr/>
        </p:nvSpPr>
        <p:spPr>
          <a:xfrm>
            <a:off x="441767" y="868569"/>
            <a:ext cx="11028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*Esperimento 2 – Spettri PlanetScope + Julian Day + </a:t>
            </a:r>
            <a:r>
              <a:rPr lang="it-IT" sz="1800" b="1" dirty="0" err="1">
                <a:latin typeface="Abadi" panose="020B0604020104020204" pitchFamily="34" charset="0"/>
              </a:rPr>
              <a:t>Lon</a:t>
            </a:r>
            <a:r>
              <a:rPr lang="it-IT" sz="1800" b="1" dirty="0">
                <a:latin typeface="Abadi" panose="020B0604020104020204" pitchFamily="34" charset="0"/>
              </a:rPr>
              <a:t> + </a:t>
            </a:r>
            <a:r>
              <a:rPr lang="it-IT" sz="1800" b="1" dirty="0" err="1">
                <a:latin typeface="Abadi" panose="020B0604020104020204" pitchFamily="34" charset="0"/>
              </a:rPr>
              <a:t>Lat</a:t>
            </a:r>
            <a:r>
              <a:rPr lang="it-IT" sz="1800" b="1" dirty="0">
                <a:latin typeface="Abadi" panose="020B0604020104020204" pitchFamily="34" charset="0"/>
              </a:rPr>
              <a:t> + </a:t>
            </a:r>
            <a:r>
              <a:rPr lang="it-IT" sz="1800" b="1" dirty="0" err="1">
                <a:latin typeface="Abadi" panose="020B0604020104020204" pitchFamily="34" charset="0"/>
              </a:rPr>
              <a:t>SWP_offset</a:t>
            </a:r>
            <a:r>
              <a:rPr lang="it-IT" sz="1800" b="1" dirty="0">
                <a:latin typeface="Abadi" panose="020B0604020104020204" pitchFamily="34" charset="0"/>
              </a:rPr>
              <a:t> – </a:t>
            </a:r>
            <a:r>
              <a:rPr lang="it-IT" sz="1800" b="1" dirty="0" err="1">
                <a:latin typeface="Abadi" panose="020B0604020104020204" pitchFamily="34" charset="0"/>
              </a:rPr>
              <a:t>Leave</a:t>
            </a:r>
            <a:r>
              <a:rPr lang="it-IT" sz="1800" b="1" dirty="0">
                <a:latin typeface="Abadi" panose="020B0604020104020204" pitchFamily="34" charset="0"/>
              </a:rPr>
              <a:t> One </a:t>
            </a:r>
            <a:r>
              <a:rPr lang="it-IT" sz="1800" b="1" dirty="0" err="1">
                <a:latin typeface="Abadi" panose="020B0604020104020204" pitchFamily="34" charset="0"/>
              </a:rPr>
              <a:t>Year</a:t>
            </a:r>
            <a:r>
              <a:rPr lang="it-IT" sz="1800" b="1" dirty="0">
                <a:latin typeface="Abadi" panose="020B0604020104020204" pitchFamily="34" charset="0"/>
              </a:rPr>
              <a:t> Out </a:t>
            </a:r>
            <a:endParaRPr lang="en-US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F6F33D3-C720-3038-5343-0829F2AA3B5C}"/>
              </a:ext>
            </a:extLst>
          </p:cNvPr>
          <p:cNvSpPr txBox="1"/>
          <p:nvPr/>
        </p:nvSpPr>
        <p:spPr>
          <a:xfrm>
            <a:off x="441767" y="6437062"/>
            <a:ext cx="992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latin typeface="Abadi" panose="020B0604020104020204" pitchFamily="34" charset="0"/>
              </a:rPr>
              <a:t>Cohen’s Kappa anno 2023:    0.103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3152CB7-71A2-ED5C-ED0C-347122B59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70" y="1486896"/>
            <a:ext cx="5110258" cy="4701170"/>
          </a:xfrm>
          <a:prstGeom prst="rect">
            <a:avLst/>
          </a:prstGeom>
        </p:spPr>
      </p:pic>
      <p:pic>
        <p:nvPicPr>
          <p:cNvPr id="12" name="Immagine 11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E5A02E6C-0C6A-EBAE-D39D-22C2ABFDE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460" y="1379358"/>
            <a:ext cx="6328070" cy="432551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2B85A76-E040-A04B-138C-FB1FCDD8DA9D}"/>
              </a:ext>
            </a:extLst>
          </p:cNvPr>
          <p:cNvSpPr txBox="1"/>
          <p:nvPr/>
        </p:nvSpPr>
        <p:spPr>
          <a:xfrm>
            <a:off x="6334246" y="1634145"/>
            <a:ext cx="1802757" cy="11695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it-IT" sz="1400" b="1" dirty="0">
                <a:latin typeface="Abadi" panose="020B0604020104020204" pitchFamily="34" charset="0"/>
              </a:rPr>
              <a:t>Performance:</a:t>
            </a:r>
          </a:p>
          <a:p>
            <a:endParaRPr lang="it-IT" sz="1400" b="1" dirty="0">
              <a:latin typeface="Abadi" panose="020B0604020104020204" pitchFamily="34" charset="0"/>
            </a:endParaRPr>
          </a:p>
          <a:p>
            <a:r>
              <a:rPr lang="it-IT" sz="1400" b="1" dirty="0" err="1">
                <a:latin typeface="Abadi" panose="020B0604020104020204" pitchFamily="34" charset="0"/>
              </a:rPr>
              <a:t>Bias</a:t>
            </a:r>
            <a:r>
              <a:rPr lang="it-IT" sz="1400" b="1" dirty="0">
                <a:latin typeface="Abadi" panose="020B0604020104020204" pitchFamily="34" charset="0"/>
              </a:rPr>
              <a:t>: -0.4</a:t>
            </a:r>
          </a:p>
          <a:p>
            <a:r>
              <a:rPr lang="it-IT" sz="1400" b="1" dirty="0">
                <a:latin typeface="Abadi" panose="020B0604020104020204" pitchFamily="34" charset="0"/>
              </a:rPr>
              <a:t>RMSE: 0.3</a:t>
            </a:r>
          </a:p>
          <a:p>
            <a:r>
              <a:rPr lang="it-IT" sz="1400" b="1" dirty="0">
                <a:latin typeface="Abadi" panose="020B0604020104020204" pitchFamily="34" charset="0"/>
              </a:rPr>
              <a:t>Pearson’s R: 0.50%</a:t>
            </a:r>
            <a:endParaRPr lang="en-US" sz="1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90D3D47-23F8-2E54-9495-ECB89822170A}"/>
              </a:ext>
            </a:extLst>
          </p:cNvPr>
          <p:cNvSpPr txBox="1"/>
          <p:nvPr/>
        </p:nvSpPr>
        <p:spPr>
          <a:xfrm>
            <a:off x="5732751" y="5846331"/>
            <a:ext cx="63280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solidFill>
                  <a:srgbClr val="C00000"/>
                </a:solidFill>
                <a:latin typeface="Abadi" panose="020B0604020104020204" pitchFamily="34" charset="0"/>
              </a:rPr>
              <a:t>Domanda: l’anno 2022 è stato più siccitoso del 2023?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C00000"/>
                </a:solidFill>
                <a:latin typeface="Abadi" panose="020B0604020104020204" pitchFamily="34" charset="0"/>
              </a:rPr>
              <a:t>Su </a:t>
            </a:r>
            <a:r>
              <a:rPr lang="it-IT" sz="1600" b="1" dirty="0" err="1">
                <a:solidFill>
                  <a:srgbClr val="C00000"/>
                </a:solidFill>
                <a:latin typeface="Abadi" panose="020B0604020104020204" pitchFamily="34" charset="0"/>
              </a:rPr>
              <a:t>Tormaresca</a:t>
            </a:r>
            <a:r>
              <a:rPr lang="it-IT" sz="1600" b="1" dirty="0">
                <a:solidFill>
                  <a:srgbClr val="C00000"/>
                </a:solidFill>
                <a:latin typeface="Abadi" panose="020B0604020104020204" pitchFamily="34" charset="0"/>
              </a:rPr>
              <a:t> (non mostrato) RF generalizza molto meglio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C00000"/>
                </a:solidFill>
                <a:latin typeface="Abadi" panose="020B0604020104020204" pitchFamily="34" charset="0"/>
              </a:rPr>
              <a:t>Senza Julian Day correlazione Zeuli + </a:t>
            </a:r>
            <a:r>
              <a:rPr lang="it-IT" sz="1600" b="1" dirty="0" err="1">
                <a:solidFill>
                  <a:srgbClr val="C00000"/>
                </a:solidFill>
                <a:latin typeface="Abadi" panose="020B0604020104020204" pitchFamily="34" charset="0"/>
              </a:rPr>
              <a:t>Tormaresca</a:t>
            </a:r>
            <a:r>
              <a:rPr lang="it-IT" sz="1600" b="1" dirty="0">
                <a:solidFill>
                  <a:srgbClr val="C00000"/>
                </a:solidFill>
                <a:latin typeface="Abadi" panose="020B0604020104020204" pitchFamily="34" charset="0"/>
              </a:rPr>
              <a:t> scende a 20%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560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diagramma, Disegno tecnico, Piano, schizzo&#10;&#10;Descrizione generata automaticamente">
            <a:extLst>
              <a:ext uri="{FF2B5EF4-FFF2-40B4-BE49-F238E27FC236}">
                <a16:creationId xmlns:a16="http://schemas.microsoft.com/office/drawing/2014/main" id="{8FED1126-0EFA-6CDE-4AFF-68B8AEC47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400" y="1537696"/>
            <a:ext cx="6201600" cy="51560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18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Backup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2E06178-60C8-A2CC-3E74-9EBB748CFE7C}"/>
              </a:ext>
            </a:extLst>
          </p:cNvPr>
          <p:cNvSpPr txBox="1"/>
          <p:nvPr/>
        </p:nvSpPr>
        <p:spPr>
          <a:xfrm>
            <a:off x="153365" y="891365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Selezione discrezionale di feature supportata da clustering gerarchico su matrice di correlazione di Pearson</a:t>
            </a:r>
          </a:p>
        </p:txBody>
      </p:sp>
      <p:pic>
        <p:nvPicPr>
          <p:cNvPr id="12" name="Immagine 11" descr="Immagine che contiene testo, schermata, Policromia, numero&#10;&#10;Descrizione generata automaticamente">
            <a:extLst>
              <a:ext uri="{FF2B5EF4-FFF2-40B4-BE49-F238E27FC236}">
                <a16:creationId xmlns:a16="http://schemas.microsoft.com/office/drawing/2014/main" id="{1C0C43F1-CBCA-95D6-9B67-CB323E58E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1949"/>
            <a:ext cx="5717072" cy="5156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4066C191-6862-9979-1FD0-81574EFF005D}"/>
                  </a:ext>
                </a:extLst>
              </p14:cNvPr>
              <p14:cNvContentPartPr/>
              <p14:nvPr/>
            </p14:nvContentPartPr>
            <p14:xfrm>
              <a:off x="6632020" y="3657249"/>
              <a:ext cx="107640" cy="1080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4066C191-6862-9979-1FD0-81574EFF00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78020" y="3549609"/>
                <a:ext cx="2152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76B5A978-17D1-E216-8AE2-35C2DB86675F}"/>
                  </a:ext>
                </a:extLst>
              </p14:cNvPr>
              <p14:cNvContentPartPr/>
              <p14:nvPr/>
            </p14:nvContentPartPr>
            <p14:xfrm>
              <a:off x="8437060" y="5486049"/>
              <a:ext cx="12600" cy="13896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76B5A978-17D1-E216-8AE2-35C2DB8667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83060" y="5378049"/>
                <a:ext cx="1202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B2B0C77E-AD96-4B8F-4B12-33CF9979F827}"/>
                  </a:ext>
                </a:extLst>
              </p14:cNvPr>
              <p14:cNvContentPartPr/>
              <p14:nvPr/>
            </p14:nvContentPartPr>
            <p14:xfrm>
              <a:off x="8703820" y="4652649"/>
              <a:ext cx="360" cy="185040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B2B0C77E-AD96-4B8F-4B12-33CF9979F8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50180" y="4544649"/>
                <a:ext cx="10800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F3D6641B-A6BF-72A4-7783-FBF2464330B4}"/>
                  </a:ext>
                </a:extLst>
              </p14:cNvPr>
              <p14:cNvContentPartPr/>
              <p14:nvPr/>
            </p14:nvContentPartPr>
            <p14:xfrm>
              <a:off x="9421300" y="5555529"/>
              <a:ext cx="11880" cy="29376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F3D6641B-A6BF-72A4-7783-FBF2464330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67660" y="5447889"/>
                <a:ext cx="11952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5B1A97BA-E4AB-A81C-C4D7-1495E759F7E1}"/>
                  </a:ext>
                </a:extLst>
              </p14:cNvPr>
              <p14:cNvContentPartPr/>
              <p14:nvPr/>
            </p14:nvContentPartPr>
            <p14:xfrm>
              <a:off x="10683100" y="4710969"/>
              <a:ext cx="360" cy="7884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5B1A97BA-E4AB-A81C-C4D7-1495E759F7E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29100" y="4602969"/>
                <a:ext cx="1080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26DB7065-3E87-7D35-2D44-C59F156115FC}"/>
                  </a:ext>
                </a:extLst>
              </p14:cNvPr>
              <p14:cNvContentPartPr/>
              <p14:nvPr/>
            </p14:nvContentPartPr>
            <p14:xfrm>
              <a:off x="10972540" y="4502169"/>
              <a:ext cx="360" cy="26532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26DB7065-3E87-7D35-2D44-C59F156115F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918900" y="4394169"/>
                <a:ext cx="108000" cy="48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899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19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Backup: </a:t>
            </a:r>
            <a:r>
              <a:rPr lang="en-US" sz="3200" b="1" dirty="0" err="1">
                <a:solidFill>
                  <a:schemeClr val="bg1"/>
                </a:solidFill>
                <a:latin typeface="Abadi" panose="020B0604020104020204" pitchFamily="34" charset="0"/>
              </a:rPr>
              <a:t>Esperimenti</a:t>
            </a:r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 con </a:t>
            </a:r>
            <a:r>
              <a:rPr lang="en-US" sz="3200" b="1" dirty="0" err="1">
                <a:solidFill>
                  <a:schemeClr val="bg1"/>
                </a:solidFill>
                <a:latin typeface="Abadi" panose="020B0604020104020204" pitchFamily="34" charset="0"/>
              </a:rPr>
              <a:t>altri</a:t>
            </a:r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 set di Feature </a:t>
            </a:r>
            <a:r>
              <a:rPr lang="en-US" sz="2400" b="1" dirty="0">
                <a:solidFill>
                  <a:schemeClr val="bg1"/>
                </a:solidFill>
                <a:latin typeface="Abadi" panose="020B0604020104020204" pitchFamily="34" charset="0"/>
              </a:rPr>
              <a:t>(</a:t>
            </a:r>
            <a:r>
              <a:rPr lang="en-US" sz="2400" b="1" dirty="0" err="1">
                <a:solidFill>
                  <a:schemeClr val="bg1"/>
                </a:solidFill>
                <a:latin typeface="Abadi" panose="020B0604020104020204" pitchFamily="34" charset="0"/>
              </a:rPr>
              <a:t>spacetimeCV</a:t>
            </a:r>
            <a:r>
              <a:rPr lang="en-US" sz="2400" b="1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  <a:endParaRPr lang="en-US" sz="32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53DF6E-D6AD-A21E-4BDC-C1AB4ED79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27" y="727112"/>
            <a:ext cx="6592747" cy="5693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 + SPECTRA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 = 0.335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BIAS = 0.001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 = 51.3%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 + INDEXES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 = 0.344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BIAS = 0.01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 = 54.6%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 + SPECTRA + INDEXES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 = 0.328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BIAS = 0.02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 = 58.0%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 + XY + SPECTRA + INDEXES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 = 0.319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BIAS = -0.038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 = 59.1%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_____________________________________________________________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 + XY + SPECTRA + INDEXES + WEATHER (AGRI-ERA5)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 = 0.349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BIAS = -0.04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 = 54.2%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_____________________________________________________________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580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20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Backup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2E06178-60C8-A2CC-3E74-9EBB748CFE7C}"/>
              </a:ext>
            </a:extLst>
          </p:cNvPr>
          <p:cNvSpPr txBox="1"/>
          <p:nvPr/>
        </p:nvSpPr>
        <p:spPr>
          <a:xfrm>
            <a:off x="729794" y="811356"/>
            <a:ext cx="3816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Distribuzione Importanze local</a:t>
            </a:r>
            <a:r>
              <a:rPr lang="it-IT" b="1" dirty="0">
                <a:latin typeface="Abadi" panose="020B0604020104020204" pitchFamily="34" charset="0"/>
              </a:rPr>
              <a:t>i SHAP</a:t>
            </a:r>
          </a:p>
          <a:p>
            <a:pPr algn="ctr"/>
            <a:r>
              <a:rPr lang="it-IT" b="1" dirty="0">
                <a:latin typeface="Abadi" panose="020B0604020104020204" pitchFamily="34" charset="0"/>
              </a:rPr>
              <a:t>2022+2023 </a:t>
            </a:r>
            <a:endParaRPr lang="it-IT" sz="1800" b="1" dirty="0">
              <a:latin typeface="Abadi" panose="020B0604020104020204" pitchFamily="34" charset="0"/>
            </a:endParaRPr>
          </a:p>
        </p:txBody>
      </p:sp>
      <p:pic>
        <p:nvPicPr>
          <p:cNvPr id="5" name="Immagine 4" descr="Immagine che contiene diagramma, testo, schermata, mappa&#10;&#10;Descrizione generata automaticamente">
            <a:extLst>
              <a:ext uri="{FF2B5EF4-FFF2-40B4-BE49-F238E27FC236}">
                <a16:creationId xmlns:a16="http://schemas.microsoft.com/office/drawing/2014/main" id="{F7775DE3-116F-B693-A70D-7CEA33C3A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8" y="1418825"/>
            <a:ext cx="5102224" cy="4797706"/>
          </a:xfrm>
          <a:prstGeom prst="rect">
            <a:avLst/>
          </a:prstGeom>
        </p:spPr>
      </p:pic>
      <p:pic>
        <p:nvPicPr>
          <p:cNvPr id="7" name="Immagine 6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186DF5E5-2401-741D-B13B-4F8241B23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422" y="1812724"/>
            <a:ext cx="6561922" cy="440380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95A28FC-58D6-9418-FE38-746A0554C68D}"/>
              </a:ext>
            </a:extLst>
          </p:cNvPr>
          <p:cNvSpPr txBox="1"/>
          <p:nvPr/>
        </p:nvSpPr>
        <p:spPr>
          <a:xfrm>
            <a:off x="6366075" y="1504987"/>
            <a:ext cx="5208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Test indipendente su 2023 (leggero miglioramento)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20BDF55-F5C6-B006-BA2E-AF8D8AE423B9}"/>
              </a:ext>
            </a:extLst>
          </p:cNvPr>
          <p:cNvSpPr txBox="1"/>
          <p:nvPr/>
        </p:nvSpPr>
        <p:spPr>
          <a:xfrm>
            <a:off x="6119185" y="1944228"/>
            <a:ext cx="1802757" cy="11695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it-IT" sz="1400" b="1" dirty="0">
                <a:latin typeface="Abadi" panose="020B0604020104020204" pitchFamily="34" charset="0"/>
              </a:rPr>
              <a:t>Performance:</a:t>
            </a:r>
          </a:p>
          <a:p>
            <a:endParaRPr lang="it-IT" sz="1400" b="1" dirty="0">
              <a:latin typeface="Abadi" panose="020B0604020104020204" pitchFamily="34" charset="0"/>
            </a:endParaRPr>
          </a:p>
          <a:p>
            <a:r>
              <a:rPr lang="it-IT" sz="1400" b="1" dirty="0" err="1">
                <a:latin typeface="Abadi" panose="020B0604020104020204" pitchFamily="34" charset="0"/>
              </a:rPr>
              <a:t>Bias</a:t>
            </a:r>
            <a:r>
              <a:rPr lang="it-IT" sz="1400" b="1" dirty="0">
                <a:latin typeface="Abadi" panose="020B0604020104020204" pitchFamily="34" charset="0"/>
              </a:rPr>
              <a:t>: -0.4</a:t>
            </a:r>
          </a:p>
          <a:p>
            <a:r>
              <a:rPr lang="it-IT" sz="1400" b="1" dirty="0">
                <a:latin typeface="Abadi" panose="020B0604020104020204" pitchFamily="34" charset="0"/>
              </a:rPr>
              <a:t>RMSE: 0.29</a:t>
            </a:r>
          </a:p>
          <a:p>
            <a:r>
              <a:rPr lang="it-IT" sz="1400" b="1" dirty="0">
                <a:latin typeface="Abadi" panose="020B0604020104020204" pitchFamily="34" charset="0"/>
              </a:rPr>
              <a:t>Pearson’s R: 0.56%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43738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21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Backup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2E06178-60C8-A2CC-3E74-9EBB748CFE7C}"/>
              </a:ext>
            </a:extLst>
          </p:cNvPr>
          <p:cNvSpPr txBox="1"/>
          <p:nvPr/>
        </p:nvSpPr>
        <p:spPr>
          <a:xfrm>
            <a:off x="1158057" y="998441"/>
            <a:ext cx="3816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Distribuzione Importanze local</a:t>
            </a:r>
            <a:r>
              <a:rPr lang="it-IT" b="1" dirty="0">
                <a:latin typeface="Abadi" panose="020B0604020104020204" pitchFamily="34" charset="0"/>
              </a:rPr>
              <a:t>i SHAP</a:t>
            </a:r>
          </a:p>
          <a:p>
            <a:pPr algn="ctr"/>
            <a:r>
              <a:rPr lang="it-IT" b="1" dirty="0">
                <a:latin typeface="Abadi" panose="020B0604020104020204" pitchFamily="34" charset="0"/>
              </a:rPr>
              <a:t>Solo 2023 </a:t>
            </a:r>
            <a:endParaRPr lang="it-IT" sz="1800" b="1" dirty="0">
              <a:latin typeface="Abadi" panose="020B0604020104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775DE3-116F-B693-A70D-7CEA33C3A0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16"/>
          <a:stretch/>
        </p:blipFill>
        <p:spPr>
          <a:xfrm>
            <a:off x="82933" y="1672905"/>
            <a:ext cx="5646535" cy="4497326"/>
          </a:xfrm>
          <a:prstGeom prst="rect">
            <a:avLst/>
          </a:prstGeom>
        </p:spPr>
      </p:pic>
      <p:pic>
        <p:nvPicPr>
          <p:cNvPr id="7" name="Immagine 6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186DF5E5-2401-741D-B13B-4F8241B23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926" y="1812725"/>
            <a:ext cx="6186418" cy="415180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95A28FC-58D6-9418-FE38-746A0554C68D}"/>
              </a:ext>
            </a:extLst>
          </p:cNvPr>
          <p:cNvSpPr txBox="1"/>
          <p:nvPr/>
        </p:nvSpPr>
        <p:spPr>
          <a:xfrm>
            <a:off x="6366075" y="1504987"/>
            <a:ext cx="5208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Abadi" panose="020B0604020104020204" pitchFamily="34" charset="0"/>
              </a:rPr>
              <a:t>Test indipendente su 2023 (leggero miglioramento)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20BDF55-F5C6-B006-BA2E-AF8D8AE423B9}"/>
              </a:ext>
            </a:extLst>
          </p:cNvPr>
          <p:cNvSpPr txBox="1"/>
          <p:nvPr/>
        </p:nvSpPr>
        <p:spPr>
          <a:xfrm>
            <a:off x="6370933" y="1967377"/>
            <a:ext cx="1802757" cy="11695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it-IT" sz="1400" b="1" dirty="0">
                <a:latin typeface="Abadi" panose="020B0604020104020204" pitchFamily="34" charset="0"/>
              </a:rPr>
              <a:t>Performance:</a:t>
            </a:r>
          </a:p>
          <a:p>
            <a:endParaRPr lang="it-IT" sz="1400" b="1" dirty="0">
              <a:latin typeface="Abadi" panose="020B0604020104020204" pitchFamily="34" charset="0"/>
            </a:endParaRPr>
          </a:p>
          <a:p>
            <a:r>
              <a:rPr lang="it-IT" sz="1400" b="1" dirty="0" err="1">
                <a:latin typeface="Abadi" panose="020B0604020104020204" pitchFamily="34" charset="0"/>
              </a:rPr>
              <a:t>Bias</a:t>
            </a:r>
            <a:r>
              <a:rPr lang="it-IT" sz="1400" b="1" dirty="0">
                <a:latin typeface="Abadi" panose="020B0604020104020204" pitchFamily="34" charset="0"/>
              </a:rPr>
              <a:t>: -0.4</a:t>
            </a:r>
          </a:p>
          <a:p>
            <a:r>
              <a:rPr lang="it-IT" sz="1400" b="1" dirty="0">
                <a:latin typeface="Abadi" panose="020B0604020104020204" pitchFamily="34" charset="0"/>
              </a:rPr>
              <a:t>RMSE: 0.29</a:t>
            </a:r>
          </a:p>
          <a:p>
            <a:r>
              <a:rPr lang="it-IT" sz="1400" b="1" dirty="0">
                <a:latin typeface="Abadi" panose="020B0604020104020204" pitchFamily="34" charset="0"/>
              </a:rPr>
              <a:t>Pearson’s R: 0.56%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7054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0469-03DA-124B-9862-9E2B5A7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7F50-CE93-DF43-91CD-629E255E26FE}" type="slidenum">
              <a:rPr lang="x-none" smtClean="0"/>
              <a:t>22</a:t>
            </a:fld>
            <a:endParaRPr lang="x-none"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7FBE986-D52C-6546-BC7D-5E81F3D3CD01}"/>
              </a:ext>
            </a:extLst>
          </p:cNvPr>
          <p:cNvSpPr/>
          <p:nvPr/>
        </p:nvSpPr>
        <p:spPr>
          <a:xfrm>
            <a:off x="0" y="1827"/>
            <a:ext cx="12191999" cy="725285"/>
          </a:xfrm>
          <a:prstGeom prst="roundRect">
            <a:avLst>
              <a:gd name="adj" fmla="val 4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44E750-9720-3A4E-93D2-FCB8A3922D36}"/>
              </a:ext>
            </a:extLst>
          </p:cNvPr>
          <p:cNvSpPr txBox="1"/>
          <p:nvPr/>
        </p:nvSpPr>
        <p:spPr>
          <a:xfrm>
            <a:off x="0" y="114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Target Variable: Stem Water Potential (SWP)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3CEA541C-716E-FF06-19DE-60001BEEFB05}"/>
              </a:ext>
            </a:extLst>
          </p:cNvPr>
          <p:cNvSpPr txBox="1">
            <a:spLocks/>
          </p:cNvSpPr>
          <p:nvPr/>
        </p:nvSpPr>
        <p:spPr>
          <a:xfrm>
            <a:off x="-265568" y="1126586"/>
            <a:ext cx="5162309" cy="95671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dirty="0">
                <a:latin typeface="Abadi" panose="020B0604020104020204" pitchFamily="34" charset="0"/>
              </a:rPr>
              <a:t>Stem Water </a:t>
            </a:r>
            <a:r>
              <a:rPr lang="it-IT" sz="3200" dirty="0" err="1">
                <a:latin typeface="Abadi" panose="020B0604020104020204" pitchFamily="34" charset="0"/>
              </a:rPr>
              <a:t>Potential</a:t>
            </a:r>
            <a:r>
              <a:rPr lang="it-IT" sz="3200" dirty="0">
                <a:latin typeface="Abadi" panose="020B0604020104020204" pitchFamily="34" charset="0"/>
              </a:rPr>
              <a:t> </a:t>
            </a:r>
          </a:p>
          <a:p>
            <a:pPr algn="ctr"/>
            <a:r>
              <a:rPr lang="it-IT" sz="3200" dirty="0">
                <a:latin typeface="Abadi" panose="020B0604020104020204" pitchFamily="34" charset="0"/>
              </a:rPr>
              <a:t>(SWP)</a:t>
            </a:r>
            <a:endParaRPr lang="en-GB" sz="2400" dirty="0">
              <a:latin typeface="Abadi" panose="020B0604020104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395F144-807B-E336-DC5D-92F4A66445CC}"/>
              </a:ext>
            </a:extLst>
          </p:cNvPr>
          <p:cNvSpPr txBox="1"/>
          <p:nvPr/>
        </p:nvSpPr>
        <p:spPr>
          <a:xfrm>
            <a:off x="4664596" y="5153917"/>
            <a:ext cx="72341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+mj-lt"/>
              </a:rPr>
              <a:t>Water status is measured as a difference between vapor pressure in the plant and a reference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F509B3-8692-0D11-16D1-31AF21060D11}"/>
              </a:ext>
            </a:extLst>
          </p:cNvPr>
          <p:cNvSpPr txBox="1"/>
          <p:nvPr/>
        </p:nvSpPr>
        <p:spPr>
          <a:xfrm>
            <a:off x="5593805" y="4669584"/>
            <a:ext cx="691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it-IT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SCHOLANDER’S PRESSURE CHAMBER</a:t>
            </a:r>
            <a:endParaRPr lang="en-GB" b="1" dirty="0">
              <a:latin typeface="+mj-lt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6D3B39E8-F53E-58AE-F784-C70AD086B0B4}"/>
              </a:ext>
            </a:extLst>
          </p:cNvPr>
          <p:cNvGrpSpPr/>
          <p:nvPr/>
        </p:nvGrpSpPr>
        <p:grpSpPr>
          <a:xfrm>
            <a:off x="5789108" y="985625"/>
            <a:ext cx="6234445" cy="3586335"/>
            <a:chOff x="4772128" y="-219075"/>
            <a:chExt cx="6419644" cy="3822523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55FB4A5A-A69B-3750-DE33-3FB9D93D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2128" y="-219075"/>
              <a:ext cx="6419644" cy="3822523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02F03673-97C5-1301-7AF9-8EB10F377302}"/>
                </a:ext>
              </a:extLst>
            </p:cNvPr>
            <p:cNvSpPr txBox="1"/>
            <p:nvPr/>
          </p:nvSpPr>
          <p:spPr>
            <a:xfrm>
              <a:off x="5835770" y="-167812"/>
              <a:ext cx="2063791" cy="931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050" dirty="0">
                  <a:latin typeface="+mj-lt"/>
                </a:rPr>
                <a:t>Una camera a pressione misura la forza necessaria per spingere l'acqua fuori da una foglia idratata </a:t>
              </a:r>
              <a:endParaRPr lang="en-GB" sz="1050" dirty="0">
                <a:latin typeface="+mj-lt"/>
              </a:endParaRPr>
            </a:p>
          </p:txBody>
        </p:sp>
      </p:grpSp>
      <p:pic>
        <p:nvPicPr>
          <p:cNvPr id="12" name="Immagine 23" descr="Immagine che contiene dispositivo, interni, parete, calibro&#10;&#10;Descrizione generata automaticamente">
            <a:extLst>
              <a:ext uri="{FF2B5EF4-FFF2-40B4-BE49-F238E27FC236}">
                <a16:creationId xmlns:a16="http://schemas.microsoft.com/office/drawing/2014/main" id="{1B93ADEA-938E-1E46-993A-C24966A10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8" y="2145079"/>
            <a:ext cx="3475743" cy="3586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963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6B263D12-5E18-ADD7-C15F-75740B946D47}"/>
              </a:ext>
            </a:extLst>
          </p:cNvPr>
          <p:cNvSpPr/>
          <p:nvPr/>
        </p:nvSpPr>
        <p:spPr>
          <a:xfrm>
            <a:off x="800580" y="3218829"/>
            <a:ext cx="5295419" cy="28694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allelogramma 3">
            <a:extLst>
              <a:ext uri="{FF2B5EF4-FFF2-40B4-BE49-F238E27FC236}">
                <a16:creationId xmlns:a16="http://schemas.microsoft.com/office/drawing/2014/main" id="{BD43D1EA-DFA0-EABB-8D8F-9D7B51CF0DD8}"/>
              </a:ext>
            </a:extLst>
          </p:cNvPr>
          <p:cNvSpPr/>
          <p:nvPr/>
        </p:nvSpPr>
        <p:spPr>
          <a:xfrm>
            <a:off x="2189544" y="2019783"/>
            <a:ext cx="2673752" cy="72528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of SWP and Spectra</a:t>
            </a:r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E6140239-5065-5D0E-24A5-F6397A87F8D8}"/>
              </a:ext>
            </a:extLst>
          </p:cNvPr>
          <p:cNvSpPr/>
          <p:nvPr/>
        </p:nvSpPr>
        <p:spPr>
          <a:xfrm>
            <a:off x="1045580" y="3429001"/>
            <a:ext cx="1857738" cy="60873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Training Set</a:t>
            </a:r>
            <a:endParaRPr lang="en-US" sz="1600" dirty="0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B03E3486-B0E9-F855-0ECB-4AB41ACAA99E}"/>
              </a:ext>
            </a:extLst>
          </p:cNvPr>
          <p:cNvSpPr/>
          <p:nvPr/>
        </p:nvSpPr>
        <p:spPr>
          <a:xfrm>
            <a:off x="3900666" y="3429000"/>
            <a:ext cx="1857738" cy="608739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Validation Set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BB40336-BCCC-E675-4F0C-AA8B07A06689}"/>
              </a:ext>
            </a:extLst>
          </p:cNvPr>
          <p:cNvSpPr/>
          <p:nvPr/>
        </p:nvSpPr>
        <p:spPr>
          <a:xfrm>
            <a:off x="1119851" y="4329847"/>
            <a:ext cx="1709195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Random Forest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FFE64E0-F0EB-BA13-6C2E-3B3C5029CE84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1974449" y="2745068"/>
            <a:ext cx="1551971" cy="6839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F67BA76-4584-6DF3-AF08-27703DDCBBCB}"/>
              </a:ext>
            </a:extLst>
          </p:cNvPr>
          <p:cNvCxnSpPr>
            <a:cxnSpLocks/>
            <a:stCxn id="4" idx="4"/>
            <a:endCxn id="7" idx="1"/>
          </p:cNvCxnSpPr>
          <p:nvPr/>
        </p:nvCxnSpPr>
        <p:spPr>
          <a:xfrm>
            <a:off x="3526420" y="2745068"/>
            <a:ext cx="1379207" cy="6839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3AA54115-4EFE-67C1-C035-F3124C5C205C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974449" y="4037739"/>
            <a:ext cx="0" cy="2921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28974-EDE6-0388-3A5C-E751A0DD3816}"/>
              </a:ext>
            </a:extLst>
          </p:cNvPr>
          <p:cNvSpPr txBox="1"/>
          <p:nvPr/>
        </p:nvSpPr>
        <p:spPr>
          <a:xfrm>
            <a:off x="248848" y="6124482"/>
            <a:ext cx="6094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 dirty="0">
                <a:latin typeface="Abadi" panose="020B0604020104020204" pitchFamily="34" charset="0"/>
              </a:rPr>
              <a:t>4 </a:t>
            </a:r>
            <a:r>
              <a:rPr lang="it-IT" sz="1400" i="1" dirty="0" err="1">
                <a:latin typeface="Abadi" panose="020B0604020104020204" pitchFamily="34" charset="0"/>
              </a:rPr>
              <a:t>hold</a:t>
            </a:r>
            <a:r>
              <a:rPr lang="it-IT" sz="1400" i="1" dirty="0">
                <a:latin typeface="Abadi" panose="020B0604020104020204" pitchFamily="34" charset="0"/>
              </a:rPr>
              <a:t>-out CV rounds (75-25 rule)</a:t>
            </a:r>
            <a:endParaRPr lang="en-US" sz="1400" i="1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99E4665-20F6-F967-058B-7BA0BB8D4131}"/>
              </a:ext>
            </a:extLst>
          </p:cNvPr>
          <p:cNvSpPr/>
          <p:nvPr/>
        </p:nvSpPr>
        <p:spPr>
          <a:xfrm>
            <a:off x="3974935" y="5193302"/>
            <a:ext cx="1709195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SHAP algorithm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58439E4-015C-F0D2-1DF4-CBB61232E2D2}"/>
              </a:ext>
            </a:extLst>
          </p:cNvPr>
          <p:cNvSpPr/>
          <p:nvPr/>
        </p:nvSpPr>
        <p:spPr>
          <a:xfrm>
            <a:off x="3974936" y="4320507"/>
            <a:ext cx="1709195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Regression Model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2D6C631-8DCB-DBF7-CFF4-8F8023CE02F0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2829046" y="4624876"/>
            <a:ext cx="1145890" cy="93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1A3BC0C-3AF4-7DA6-997D-2BA50E50C5A6}"/>
              </a:ext>
            </a:extLst>
          </p:cNvPr>
          <p:cNvCxnSpPr>
            <a:cxnSpLocks/>
            <a:stCxn id="16" idx="0"/>
            <a:endCxn id="20" idx="1"/>
          </p:cNvCxnSpPr>
          <p:nvPr/>
        </p:nvCxnSpPr>
        <p:spPr>
          <a:xfrm flipV="1">
            <a:off x="4829534" y="3733368"/>
            <a:ext cx="1628065" cy="5871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BF53200-AE85-201C-DE3D-6E4C5CE99748}"/>
              </a:ext>
            </a:extLst>
          </p:cNvPr>
          <p:cNvCxnSpPr>
            <a:cxnSpLocks/>
            <a:stCxn id="7" idx="2"/>
          </p:cNvCxnSpPr>
          <p:nvPr/>
        </p:nvCxnSpPr>
        <p:spPr>
          <a:xfrm flipV="1">
            <a:off x="5682312" y="3733369"/>
            <a:ext cx="825559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79603D68-AF2A-CB5A-662E-97AC4EFEE2D7}"/>
              </a:ext>
            </a:extLst>
          </p:cNvPr>
          <p:cNvSpPr/>
          <p:nvPr/>
        </p:nvSpPr>
        <p:spPr>
          <a:xfrm>
            <a:off x="6457599" y="3428999"/>
            <a:ext cx="1759468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Evaluation 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B87FAAC-1D5B-D3B8-0BCB-D694116DB50E}"/>
              </a:ext>
            </a:extLst>
          </p:cNvPr>
          <p:cNvSpPr/>
          <p:nvPr/>
        </p:nvSpPr>
        <p:spPr>
          <a:xfrm>
            <a:off x="6429737" y="4316520"/>
            <a:ext cx="1869311" cy="608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Average Regression Model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72C6798-9E00-1B30-AD8B-F2C829D1D386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 flipV="1">
            <a:off x="5684131" y="4620889"/>
            <a:ext cx="745606" cy="3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1F432AE1-7467-77B2-BAF5-E1E650EE01FA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flipH="1">
            <a:off x="4829533" y="4929245"/>
            <a:ext cx="1" cy="2640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2553DA25-3895-5BC5-6310-95ADF50B3AE5}"/>
              </a:ext>
            </a:extLst>
          </p:cNvPr>
          <p:cNvSpPr/>
          <p:nvPr/>
        </p:nvSpPr>
        <p:spPr>
          <a:xfrm>
            <a:off x="6457599" y="5192466"/>
            <a:ext cx="1759468" cy="6087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Model </a:t>
            </a:r>
            <a:r>
              <a:rPr lang="it-IT" sz="1600" dirty="0" err="1"/>
              <a:t>Explanation</a:t>
            </a:r>
            <a:endParaRPr lang="en-US" sz="1600" dirty="0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53C70BFE-9405-4348-BADF-D58C8CE8D21D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 flipV="1">
            <a:off x="5684130" y="5496835"/>
            <a:ext cx="773469" cy="8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841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14954</TotalTime>
  <Words>1331</Words>
  <Application>Microsoft Office PowerPoint</Application>
  <PresentationFormat>Widescreen</PresentationFormat>
  <Paragraphs>325</Paragraphs>
  <Slides>23</Slides>
  <Notes>22</Notes>
  <HiddenSlides>6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Abadi</vt:lpstr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ROBERTO CILLI</dc:creator>
  <cp:lastModifiedBy>ROBERTO CILLI</cp:lastModifiedBy>
  <cp:revision>17</cp:revision>
  <dcterms:created xsi:type="dcterms:W3CDTF">2024-05-25T06:53:02Z</dcterms:created>
  <dcterms:modified xsi:type="dcterms:W3CDTF">2025-04-30T10:33:57Z</dcterms:modified>
</cp:coreProperties>
</file>